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314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5" r:id="rId23"/>
    <p:sldId id="292" r:id="rId24"/>
    <p:sldId id="300" r:id="rId25"/>
    <p:sldId id="301" r:id="rId26"/>
    <p:sldId id="302" r:id="rId27"/>
    <p:sldId id="308" r:id="rId28"/>
    <p:sldId id="312" r:id="rId29"/>
    <p:sldId id="311" r:id="rId30"/>
    <p:sldId id="313" r:id="rId31"/>
    <p:sldId id="273" r:id="rId32"/>
    <p:sldId id="272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9" autoAdjust="0"/>
    <p:restoredTop sz="94660"/>
  </p:normalViewPr>
  <p:slideViewPr>
    <p:cSldViewPr snapToGrid="0">
      <p:cViewPr>
        <p:scale>
          <a:sx n="125" d="100"/>
          <a:sy n="125" d="100"/>
        </p:scale>
        <p:origin x="341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840B12-8354-4AC8-A4CD-12F6F0D54D63}" type="datetimeFigureOut">
              <a:rPr lang="en-IN" smtClean="0"/>
              <a:t>05-04-2026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069E3-120D-4A00-B564-D726CD6A35D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4599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069E3-120D-4A00-B564-D726CD6A35DD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0908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BD603-20A8-51B1-B47D-548BD0484C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A2B7DF-7257-B060-5C19-F13C2B1EF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FD3D5-BA1F-57BE-193B-7EA8A6303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6AE75-B150-491F-821F-0BBA92782CB5}" type="datetimeFigureOut">
              <a:rPr lang="en-IN" smtClean="0"/>
              <a:t>05-04-2026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65A7C-D54D-A194-2869-BD310F1E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664BE-2C24-A932-DE0C-1A057B09B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2DA68-2398-42F9-83A5-77277BDEE1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1746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F95BA-9F6F-914A-7B44-68A7C22C9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458BD-B2DF-6FC7-E310-0CD5AD399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9E52B-587D-D9C8-ED24-353E33E1E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6AE75-B150-491F-821F-0BBA92782CB5}" type="datetimeFigureOut">
              <a:rPr lang="en-IN" smtClean="0"/>
              <a:t>05-04-2026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55E8A-330C-5B87-9F60-2DA0599E3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FECED-C66C-62D5-D458-F7A5127B9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2DA68-2398-42F9-83A5-77277BDEE1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9524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BD81B-2C69-D436-EB55-D5AB47451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D30A9-685B-0242-F222-5EFB9AD64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D2E2D-20DE-C65A-F3E4-B29F37A76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6AE75-B150-491F-821F-0BBA92782CB5}" type="datetimeFigureOut">
              <a:rPr lang="en-IN" smtClean="0"/>
              <a:t>05-04-2026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607D4-D5B3-39B7-0A2D-4E88114FE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AB276-B331-A6F7-C4B7-93C3D3273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2DA68-2398-42F9-83A5-77277BDEE1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962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B1C23-A576-A8BA-5D16-02D44421E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A1781-8F84-E0D0-1562-37EB8F490D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257DCA-8983-F5CA-FCBD-AF7EEFFD0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A9F94-FE41-8296-55FA-DA386A805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6AE75-B150-491F-821F-0BBA92782CB5}" type="datetimeFigureOut">
              <a:rPr lang="en-IN" smtClean="0"/>
              <a:t>05-04-2026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D2EB9-2752-EDF5-17F0-274438BFD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C5FEBA-5D67-47AC-437E-BB176FC59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2DA68-2398-42F9-83A5-77277BDEE1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1623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CCB75-A26B-9CD5-A536-487C6AA43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37AC1-7DC7-0F25-CD5F-D1A47440A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60AFE-C4AF-E2CE-AF1E-1B7F044E3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2C34F1-B7E8-D7F9-DF9C-F39E5577D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E55583-6B3E-FE0A-20C3-F780906C0A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2A5419-7B3B-A9DB-29F3-54A840F24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6AE75-B150-491F-821F-0BBA92782CB5}" type="datetimeFigureOut">
              <a:rPr lang="en-IN" smtClean="0"/>
              <a:t>05-04-2026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DDCA08-7E9C-A138-1104-E14E1FE41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8BE8A-B0C3-141F-ABA3-2A7FA61FB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2DA68-2398-42F9-83A5-77277BDEE1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4045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F707-C09D-5F55-7CF4-9BF6479AE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BD69C6-B590-3C76-C3F2-01366C577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6AE75-B150-491F-821F-0BBA92782CB5}" type="datetimeFigureOut">
              <a:rPr lang="en-IN" smtClean="0"/>
              <a:t>05-04-2026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C47F48-DEEF-4945-75EA-622C45620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DDA5A3-8C62-CCA4-A9C3-95CD0857A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2DA68-2398-42F9-83A5-77277BDEE1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849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DBE254-6A5B-D6FA-C444-3B3AC7597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6AE75-B150-491F-821F-0BBA92782CB5}" type="datetimeFigureOut">
              <a:rPr lang="en-IN" smtClean="0"/>
              <a:t>05-04-2026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A4B593-7259-5E89-9648-75B516EEB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CB460-852A-D932-1851-DC9333465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2DA68-2398-42F9-83A5-77277BDEE1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1194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DE686-6366-49FE-F4F0-6135C9EBD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44F13-2056-E4F0-2398-A03556FE1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97E75C-7AA0-5377-E336-E4E140382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B1664-EDE1-D704-A0FB-A81C2BF8F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6AE75-B150-491F-821F-0BBA92782CB5}" type="datetimeFigureOut">
              <a:rPr lang="en-IN" smtClean="0"/>
              <a:t>05-04-2026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42B1F-E67F-F443-0BA2-F0493A3D5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DBEF8-E875-B018-E72D-4BD267944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2DA68-2398-42F9-83A5-77277BDEE1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8297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BE8B8-14AE-D964-CF3F-0B3212E13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6653EC-AC30-C14C-EFAF-7A630D4CB3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3ACD3B-61CC-86A9-D569-C4D61DFFF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49D99-9991-ABE4-78C2-4C934B734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6AE75-B150-491F-821F-0BBA92782CB5}" type="datetimeFigureOut">
              <a:rPr lang="en-IN" smtClean="0"/>
              <a:t>05-04-2026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E9BB5-2F4D-8344-2A2D-2E07554D2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807645-4D16-9FA5-B297-BE4040DCD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2DA68-2398-42F9-83A5-77277BDEE1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3263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33ABC-5AF9-9515-6E3E-466B47859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F76F8-B7BD-155B-41FA-C50481F6DB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56C30-FAC4-FBE8-B3E2-C4CF95872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6AE75-B150-491F-821F-0BBA92782CB5}" type="datetimeFigureOut">
              <a:rPr lang="en-IN" smtClean="0"/>
              <a:t>05-04-2026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B0874-BC1F-FD23-A307-930D1E2AF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A39D2-BB39-41BF-6290-F279B6ECF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2DA68-2398-42F9-83A5-77277BDEE1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3240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572F76-90A0-DA66-8608-2027669419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77969-3423-1009-B34F-E3EBB02F5C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76ACD-62C3-070A-FF70-0FD3230ED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6AE75-B150-491F-821F-0BBA92782CB5}" type="datetimeFigureOut">
              <a:rPr lang="en-IN" smtClean="0"/>
              <a:t>05-04-2026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937C7-BD39-DEC5-E4D2-7A3DE2204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43CA2-0C5A-8B09-1848-26A64D04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2DA68-2398-42F9-83A5-77277BDEE1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7923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ABD78-0752-2148-B37E-F66C5B1F5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3A311-8490-42D9-686D-1CCB5EE89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8E439-8796-5A9B-549F-B1FBF212FE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6AE75-B150-491F-821F-0BBA92782CB5}" type="datetimeFigureOut">
              <a:rPr lang="en-IN" smtClean="0"/>
              <a:t>05-04-2026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B0602-31B9-8997-BA2B-CD377CB377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CF0CC-45E2-C997-C8D4-D526EBFEE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2DA68-2398-42F9-83A5-77277BDEE1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8403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pranjan@aziro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python-client.qdrant.tech/" TargetMode="External"/><Relationship Id="rId13" Type="http://schemas.openxmlformats.org/officeDocument/2006/relationships/hyperlink" Target="https://www.sbert.net/docs/sentence_transformer/usage/usage.html" TargetMode="External"/><Relationship Id="rId3" Type="http://schemas.openxmlformats.org/officeDocument/2006/relationships/hyperlink" Target="https://github.com/langchain-ai/langchain" TargetMode="External"/><Relationship Id="rId7" Type="http://schemas.openxmlformats.org/officeDocument/2006/relationships/hyperlink" Target="https://docs.langchain.com/oss/python/integrations/chat/openai" TargetMode="External"/><Relationship Id="rId12" Type="http://schemas.openxmlformats.org/officeDocument/2006/relationships/hyperlink" Target="https://huggingface.co/sentence-transformers/all-MiniLM-L6-v2" TargetMode="External"/><Relationship Id="rId2" Type="http://schemas.openxmlformats.org/officeDocument/2006/relationships/hyperlink" Target="https://upstash.com/blog/langchain-explained" TargetMode="External"/><Relationship Id="rId16" Type="http://schemas.openxmlformats.org/officeDocument/2006/relationships/hyperlink" Target="https://docs.ragas.io/en/lates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langchain.com/oss/python/langchain/overview" TargetMode="External"/><Relationship Id="rId11" Type="http://schemas.openxmlformats.org/officeDocument/2006/relationships/hyperlink" Target="https://github.com/facebookresearch/faiss" TargetMode="External"/><Relationship Id="rId5" Type="http://schemas.openxmlformats.org/officeDocument/2006/relationships/hyperlink" Target="https://smith.langchain.com/hub" TargetMode="External"/><Relationship Id="rId15" Type="http://schemas.openxmlformats.org/officeDocument/2006/relationships/hyperlink" Target="https://pypdf.readthedocs.io/en/latest/user/extract-text.html" TargetMode="External"/><Relationship Id="rId10" Type="http://schemas.openxmlformats.org/officeDocument/2006/relationships/hyperlink" Target="https://qdrant.tech/documentation/search/search/" TargetMode="External"/><Relationship Id="rId4" Type="http://schemas.openxmlformats.org/officeDocument/2006/relationships/hyperlink" Target="https://docs.langchain.com/langsmith/prompt-template-format" TargetMode="External"/><Relationship Id="rId9" Type="http://schemas.openxmlformats.org/officeDocument/2006/relationships/hyperlink" Target="https://qdrant.tech/documentation/tutorials-search-engineering/retrieval-quality/" TargetMode="External"/><Relationship Id="rId14" Type="http://schemas.openxmlformats.org/officeDocument/2006/relationships/hyperlink" Target="https://fastapi.tiangolo.com/tutorial/request-fil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32CBB-3DCD-66D9-E6F1-06D6967F8B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0989" y="922020"/>
            <a:ext cx="8390021" cy="1336618"/>
          </a:xfrm>
        </p:spPr>
        <p:txBody>
          <a:bodyPr>
            <a:normAutofit fontScale="90000"/>
          </a:bodyPr>
          <a:lstStyle/>
          <a:p>
            <a:br>
              <a:rPr lang="en-IN" sz="4000" dirty="0"/>
            </a:br>
            <a:r>
              <a:rPr lang="en-IN" sz="4400" dirty="0"/>
              <a:t>AI Capability 2.0 </a:t>
            </a:r>
            <a:br>
              <a:rPr lang="en-IN" b="1" dirty="0"/>
            </a:br>
            <a:r>
              <a:rPr lang="en-IN" sz="3600" b="1" dirty="0"/>
              <a:t>Modules – 6 &amp; 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14C13E-F975-2453-B06D-F50C5A7CA3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22942"/>
            <a:ext cx="9403080" cy="2103337"/>
          </a:xfrm>
        </p:spPr>
        <p:txBody>
          <a:bodyPr>
            <a:normAutofit fontScale="70000" lnSpcReduction="20000"/>
          </a:bodyPr>
          <a:lstStyle/>
          <a:p>
            <a:r>
              <a:rPr lang="en-US" sz="4500" dirty="0"/>
              <a:t>Building AI Applications with LangChain</a:t>
            </a:r>
          </a:p>
          <a:p>
            <a:r>
              <a:rPr lang="en-US" sz="4500" dirty="0"/>
              <a:t>Enterprise-Grade RAG</a:t>
            </a:r>
          </a:p>
          <a:p>
            <a:endParaRPr lang="en-IN" dirty="0"/>
          </a:p>
          <a:p>
            <a:r>
              <a:rPr lang="en-IN" sz="3300" dirty="0"/>
              <a:t>Presenter: Priya Ranjan (</a:t>
            </a:r>
            <a:r>
              <a:rPr lang="en-IN" sz="3300" dirty="0">
                <a:hlinkClick r:id="rId2"/>
              </a:rPr>
              <a:t>pranjan@aziro.com</a:t>
            </a:r>
            <a:r>
              <a:rPr lang="en-IN" sz="3300" dirty="0"/>
              <a:t>)                                             </a:t>
            </a:r>
          </a:p>
          <a:p>
            <a:r>
              <a:rPr lang="en-IN" sz="3300" dirty="0"/>
              <a:t>Date: 6-April-2026</a:t>
            </a:r>
          </a:p>
        </p:txBody>
      </p:sp>
    </p:spTree>
    <p:extLst>
      <p:ext uri="{BB962C8B-B14F-4D97-AF65-F5344CB8AC3E}">
        <p14:creationId xmlns:p14="http://schemas.microsoft.com/office/powerpoint/2010/main" val="3824855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B2E82-E0C2-F87A-2896-3D0DF98FC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5140"/>
            <a:ext cx="4770120" cy="592638"/>
          </a:xfrm>
        </p:spPr>
        <p:txBody>
          <a:bodyPr>
            <a:normAutofit/>
          </a:bodyPr>
          <a:lstStyle/>
          <a:p>
            <a:r>
              <a:rPr lang="en-IN" sz="3200" dirty="0"/>
              <a:t>Today’s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6301F-D5EC-DB8B-AB0D-115AFBCDC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2725"/>
            <a:ext cx="9875921" cy="37991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LangChain detailed understanding and walkthrough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Prompt engineering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Multi-step chains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Tools &amp; Agents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Memory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Custom tools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Hands-on Demo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Enterprise-Grade RAG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Hands-on Demo – Resume Parser RAG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88203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A4AE0-FC8A-EDD6-12F1-50EEA1745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31" y="321359"/>
            <a:ext cx="6327487" cy="448826"/>
          </a:xfrm>
        </p:spPr>
        <p:txBody>
          <a:bodyPr anchor="t">
            <a:noAutofit/>
          </a:bodyPr>
          <a:lstStyle/>
          <a:p>
            <a:r>
              <a:rPr lang="en-IN" sz="2400" b="1" dirty="0"/>
              <a:t>Langchain</a:t>
            </a:r>
            <a:endParaRPr lang="en-IN" sz="32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74C836-DA33-EDD8-B2EE-A5438BB38411}"/>
              </a:ext>
            </a:extLst>
          </p:cNvPr>
          <p:cNvSpPr txBox="1">
            <a:spLocks/>
          </p:cNvSpPr>
          <p:nvPr/>
        </p:nvSpPr>
        <p:spPr>
          <a:xfrm>
            <a:off x="271431" y="961607"/>
            <a:ext cx="2746089" cy="51786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Calibri body"/>
              </a:rPr>
              <a:t>LangChain is an open-source Python (and JavaScript) </a:t>
            </a:r>
            <a:r>
              <a:rPr lang="en-US" sz="1600" b="1" dirty="0">
                <a:latin typeface="Calibri body"/>
              </a:rPr>
              <a:t>framework for building applications powered by Large Language Models.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Calibri body"/>
              </a:rPr>
              <a:t>Rather than wiring LLM APIs from scratch, LangChain gives you modular, composable building blocks –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>
                <a:latin typeface="Calibri body"/>
              </a:rPr>
              <a:t>prompts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>
                <a:latin typeface="Calibri body"/>
              </a:rPr>
              <a:t>retrievers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>
                <a:latin typeface="Calibri body"/>
              </a:rPr>
              <a:t>chains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>
                <a:latin typeface="Calibri body"/>
              </a:rPr>
              <a:t>memory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>
                <a:latin typeface="Calibri body"/>
              </a:rPr>
              <a:t>agents </a:t>
            </a:r>
          </a:p>
          <a:p>
            <a:r>
              <a:rPr lang="en-US" sz="1600" dirty="0">
                <a:latin typeface="Calibri body"/>
              </a:rPr>
              <a:t>that plug together cleanly and follow a single unified interface called </a:t>
            </a:r>
            <a:r>
              <a:rPr lang="en-US" sz="1600" b="1" dirty="0">
                <a:latin typeface="Calibri body"/>
              </a:rPr>
              <a:t>LCEL (LangChain Expression Language).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E63E3F-F3D0-D8F5-C5FA-DA9D168FA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414" y="1062990"/>
            <a:ext cx="8839974" cy="473202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52991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A8142-4C9C-C85B-B290-BF0752265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42B02E3-F567-8F32-EB6B-39536506B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133" y="122498"/>
            <a:ext cx="9039734" cy="66130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2F3532-A5E7-F0D8-A080-CDB27B78E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393" y="243840"/>
            <a:ext cx="4096247" cy="325872"/>
          </a:xfrm>
        </p:spPr>
        <p:txBody>
          <a:bodyPr anchor="t">
            <a:noAutofit/>
          </a:bodyPr>
          <a:lstStyle/>
          <a:p>
            <a:r>
              <a:rPr lang="en-IN" sz="2400" b="1" dirty="0" err="1"/>
              <a:t>Langchain</a:t>
            </a:r>
            <a:r>
              <a:rPr lang="en-IN" sz="2400" b="1" dirty="0"/>
              <a:t> Capabilities</a:t>
            </a:r>
          </a:p>
        </p:txBody>
      </p:sp>
    </p:spTree>
    <p:extLst>
      <p:ext uri="{BB962C8B-B14F-4D97-AF65-F5344CB8AC3E}">
        <p14:creationId xmlns:p14="http://schemas.microsoft.com/office/powerpoint/2010/main" val="3383091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FE6E1-31CF-E093-2AC4-CEA8533B1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02573-8020-FD39-A6F2-BC2317262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91" y="194228"/>
            <a:ext cx="6327487" cy="417717"/>
          </a:xfrm>
        </p:spPr>
        <p:txBody>
          <a:bodyPr anchor="t">
            <a:noAutofit/>
          </a:bodyPr>
          <a:lstStyle/>
          <a:p>
            <a:r>
              <a:rPr lang="en-IN" sz="2400" b="1" dirty="0"/>
              <a:t>Model I/O</a:t>
            </a:r>
            <a:br>
              <a:rPr lang="en-IN" b="1" dirty="0"/>
            </a:br>
            <a:br>
              <a:rPr lang="en-IN" sz="3200" b="1" dirty="0"/>
            </a:br>
            <a:br>
              <a:rPr lang="en-US" sz="3200" b="1" dirty="0"/>
            </a:b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A3D41-708A-1FB9-6DEF-19FB7272F030}"/>
              </a:ext>
            </a:extLst>
          </p:cNvPr>
          <p:cNvSpPr txBox="1"/>
          <p:nvPr/>
        </p:nvSpPr>
        <p:spPr>
          <a:xfrm>
            <a:off x="408591" y="756530"/>
            <a:ext cx="3782409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0" i="0" dirty="0">
                <a:effectLst/>
              </a:rPr>
              <a:t>The interface between your application and language models—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i="0" dirty="0">
                <a:effectLst/>
              </a:rPr>
              <a:t>prompts </a:t>
            </a:r>
            <a:r>
              <a:rPr lang="en-US" i="0" dirty="0">
                <a:effectLst/>
              </a:rPr>
              <a:t>in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i="0" dirty="0">
                <a:effectLst/>
              </a:rPr>
              <a:t>structured output </a:t>
            </a:r>
            <a:r>
              <a:rPr lang="en-US" i="0" dirty="0">
                <a:effectLst/>
              </a:rPr>
              <a:t>out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Prompts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Prompt templates are reusable, parameterised text skeletons. You define variables with </a:t>
            </a:r>
            <a:r>
              <a:rPr lang="en-IN" b="1" dirty="0"/>
              <a:t>{curly braces}</a:t>
            </a:r>
            <a:r>
              <a:rPr lang="en-IN" dirty="0"/>
              <a:t> and fill them at runtime.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 LangChain ships three main types: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IN" sz="1600" b="1" dirty="0"/>
              <a:t>basic PromptTemplate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IN" sz="1600" b="1" dirty="0"/>
              <a:t>Chat aware ChatPromptTemplate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IN" sz="1600" b="1" dirty="0"/>
              <a:t>FewShotPromptTemplate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686AAC-0937-5D62-DF38-DE86483F08F3}"/>
              </a:ext>
            </a:extLst>
          </p:cNvPr>
          <p:cNvSpPr txBox="1"/>
          <p:nvPr/>
        </p:nvSpPr>
        <p:spPr>
          <a:xfrm>
            <a:off x="4716781" y="646740"/>
            <a:ext cx="7223759" cy="618464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langchain_core.prompts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PromptTemplate, ChatPromptTemplate, FewShotPromptTemplate</a:t>
            </a:r>
          </a:p>
          <a:p>
            <a:pPr>
              <a:lnSpc>
                <a:spcPts val="1425"/>
              </a:lnSpc>
              <a:buNone/>
            </a:pP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── Basic PromptTemplate ───────────────────────────────────────</a:t>
            </a: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PromptTemplate(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input_variables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"topic"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"audience"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"Explain </a:t>
            </a:r>
            <a:r>
              <a:rPr lang="en-IN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{topic}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to a </a:t>
            </a:r>
            <a:r>
              <a:rPr lang="en-IN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{audience}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in 2 sentences."</a:t>
            </a: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.format(</a:t>
            </a:r>
            <a:r>
              <a:rPr lang="en-IN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topic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"RAG pipelines"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audience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"product manager"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── ChatPromptTemplate ─────────────────────────────────────────</a:t>
            </a: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chat_prompt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ChatPromptTemplate.from_messages([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"system"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"You are an expert in </a:t>
            </a:r>
            <a:r>
              <a:rPr lang="en-IN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{domain}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"human"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"Give me 3 best practices for </a:t>
            </a:r>
            <a:r>
              <a:rPr lang="en-IN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{task}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msgs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chat_prompt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.format_messages(</a:t>
            </a:r>
            <a:r>
              <a:rPr lang="en-IN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domain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"RAG"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"chunking documents"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msgs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"[</a:t>
            </a:r>
            <a:r>
              <a:rPr lang="en-IN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.type</a:t>
            </a:r>
            <a:r>
              <a:rPr lang="en-IN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.content</a:t>
            </a:r>
            <a:r>
              <a:rPr lang="en-IN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── FewShotPromptTemplate ──────────────────────────────────────</a:t>
            </a: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examples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"happy"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"output"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"sad"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"fast"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"output"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"slow"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example_prompt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PromptTemplate(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input_variables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"output"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"Word: </a:t>
            </a:r>
            <a:r>
              <a:rPr lang="en-IN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{input}</a:t>
            </a:r>
            <a:r>
              <a:rPr lang="en-IN" sz="1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Antonym: </a:t>
            </a:r>
            <a:r>
              <a:rPr lang="en-IN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{output}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few_shot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FewShotPromptTemplate(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examples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examples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     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example_prompt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example_prompt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"Give the antonym of every word.</a:t>
            </a:r>
            <a:r>
              <a:rPr lang="en-IN" sz="1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suffix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"Word: </a:t>
            </a:r>
            <a:r>
              <a:rPr lang="en-IN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{input}</a:t>
            </a:r>
            <a:r>
              <a:rPr lang="en-IN" sz="1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Antonym:"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input_variables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few_shot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.format(</a:t>
            </a:r>
            <a:r>
              <a:rPr lang="en-IN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"bright"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B3898E-D850-BE88-C3BC-F3C00701D694}"/>
              </a:ext>
            </a:extLst>
          </p:cNvPr>
          <p:cNvSpPr txBox="1"/>
          <p:nvPr/>
        </p:nvSpPr>
        <p:spPr>
          <a:xfrm>
            <a:off x="4627392" y="249197"/>
            <a:ext cx="30002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dirty="0">
                <a:solidFill>
                  <a:schemeClr val="accent6"/>
                </a:solidFill>
                <a:effectLst/>
                <a:latin typeface="IBM Plex Mono" panose="020B0509050203000203" pitchFamily="49" charset="0"/>
              </a:rPr>
              <a:t>01_prompts.py</a:t>
            </a:r>
            <a:endParaRPr lang="en-IN" sz="1400" dirty="0">
              <a:solidFill>
                <a:schemeClr val="accent6"/>
              </a:solidFill>
            </a:endParaRPr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AE0AE324-F934-0BA8-7D00-40229DB8138A}"/>
              </a:ext>
            </a:extLst>
          </p:cNvPr>
          <p:cNvSpPr/>
          <p:nvPr/>
        </p:nvSpPr>
        <p:spPr>
          <a:xfrm>
            <a:off x="1683194" y="4358528"/>
            <a:ext cx="1525941" cy="495058"/>
          </a:xfrm>
          <a:prstGeom prst="wedgeRectCallout">
            <a:avLst>
              <a:gd name="adj1" fmla="val 148173"/>
              <a:gd name="adj2" fmla="val -11316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This is your training-like examples inside the prompt.</a:t>
            </a:r>
            <a:endParaRPr lang="en-IN" sz="1000" dirty="0"/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7178F006-ED29-BA0E-0215-C2E4E0D67757}"/>
              </a:ext>
            </a:extLst>
          </p:cNvPr>
          <p:cNvSpPr/>
          <p:nvPr/>
        </p:nvSpPr>
        <p:spPr>
          <a:xfrm>
            <a:off x="1345392" y="4930271"/>
            <a:ext cx="1905484" cy="495058"/>
          </a:xfrm>
          <a:prstGeom prst="wedgeRectCallout">
            <a:avLst>
              <a:gd name="adj1" fmla="val 125555"/>
              <a:gd name="adj2" fmla="val -8610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This tells </a:t>
            </a:r>
            <a:r>
              <a:rPr lang="en-US" sz="1000" dirty="0" err="1"/>
              <a:t>LangChain</a:t>
            </a:r>
            <a:r>
              <a:rPr lang="en-US" sz="1000" dirty="0"/>
              <a:t> how to convert each example into text.</a:t>
            </a:r>
            <a:endParaRPr lang="en-IN" sz="1000" dirty="0"/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27B4654B-2C14-B3F9-AAAA-6CE3436043F0}"/>
              </a:ext>
            </a:extLst>
          </p:cNvPr>
          <p:cNvSpPr/>
          <p:nvPr/>
        </p:nvSpPr>
        <p:spPr>
          <a:xfrm>
            <a:off x="751322" y="5529549"/>
            <a:ext cx="2638363" cy="1232351"/>
          </a:xfrm>
          <a:prstGeom prst="wedgeRectCallout">
            <a:avLst>
              <a:gd name="adj1" fmla="val 99997"/>
              <a:gd name="adj2" fmla="val -550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/>
              <a:t>This combines everything.</a:t>
            </a:r>
          </a:p>
          <a:p>
            <a:endParaRPr lang="en-US" sz="1000" dirty="0"/>
          </a:p>
          <a:p>
            <a:r>
              <a:rPr lang="en-US" sz="1000" dirty="0"/>
              <a:t>It builds the final prompt in this order:</a:t>
            </a:r>
          </a:p>
          <a:p>
            <a:r>
              <a:rPr lang="en-US" sz="1000" b="1" dirty="0"/>
              <a:t>prefix</a:t>
            </a:r>
            <a:r>
              <a:rPr lang="en-US" sz="1000" dirty="0"/>
              <a:t> → instruction at the top </a:t>
            </a:r>
          </a:p>
          <a:p>
            <a:r>
              <a:rPr lang="en-US" sz="1000" b="1" dirty="0"/>
              <a:t>examples</a:t>
            </a:r>
            <a:r>
              <a:rPr lang="en-US" sz="1000" dirty="0"/>
              <a:t> → formatted using </a:t>
            </a:r>
            <a:r>
              <a:rPr lang="en-US" sz="1000" dirty="0" err="1"/>
              <a:t>example_prompt</a:t>
            </a:r>
            <a:r>
              <a:rPr lang="en-US" sz="1000" dirty="0"/>
              <a:t> </a:t>
            </a:r>
          </a:p>
          <a:p>
            <a:r>
              <a:rPr lang="en-US" sz="1000" b="1" dirty="0"/>
              <a:t>suffix</a:t>
            </a:r>
            <a:r>
              <a:rPr lang="en-US" sz="1000" dirty="0"/>
              <a:t> → new question to solve!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7B916156-D80D-76B1-D64C-B5E2E62F2F99}"/>
              </a:ext>
            </a:extLst>
          </p:cNvPr>
          <p:cNvSpPr/>
          <p:nvPr/>
        </p:nvSpPr>
        <p:spPr>
          <a:xfrm>
            <a:off x="8859585" y="4330501"/>
            <a:ext cx="2002556" cy="352282"/>
          </a:xfrm>
          <a:prstGeom prst="wedgeRectCallout">
            <a:avLst>
              <a:gd name="adj1" fmla="val -170237"/>
              <a:gd name="adj2" fmla="val 31490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These are the sample Q&amp;A pairs.</a:t>
            </a:r>
            <a:endParaRPr lang="en-IN" sz="1000" dirty="0"/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3B36BA7D-C164-EA94-B632-6545EB8E55A9}"/>
              </a:ext>
            </a:extLst>
          </p:cNvPr>
          <p:cNvSpPr/>
          <p:nvPr/>
        </p:nvSpPr>
        <p:spPr>
          <a:xfrm>
            <a:off x="9507528" y="4772549"/>
            <a:ext cx="2002556" cy="352282"/>
          </a:xfrm>
          <a:prstGeom prst="wedgeRectCallout">
            <a:avLst>
              <a:gd name="adj1" fmla="val -167038"/>
              <a:gd name="adj2" fmla="val 23058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This decides how each example should be printed.</a:t>
            </a:r>
            <a:endParaRPr lang="en-IN" sz="1000" dirty="0"/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241713B0-C066-9F3A-25F3-A5BC13EE959A}"/>
              </a:ext>
            </a:extLst>
          </p:cNvPr>
          <p:cNvSpPr/>
          <p:nvPr/>
        </p:nvSpPr>
        <p:spPr>
          <a:xfrm>
            <a:off x="9747291" y="5249188"/>
            <a:ext cx="2002556" cy="352282"/>
          </a:xfrm>
          <a:prstGeom prst="wedgeRectCallout">
            <a:avLst>
              <a:gd name="adj1" fmla="val -133301"/>
              <a:gd name="adj2" fmla="val 1479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This is the instruction shown before the examples.</a:t>
            </a:r>
            <a:endParaRPr lang="en-IN" sz="1000" dirty="0"/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DAF61F0C-BCCB-39C3-6686-3951372E3EA6}"/>
              </a:ext>
            </a:extLst>
          </p:cNvPr>
          <p:cNvSpPr/>
          <p:nvPr/>
        </p:nvSpPr>
        <p:spPr>
          <a:xfrm>
            <a:off x="9789031" y="5793442"/>
            <a:ext cx="2002556" cy="352282"/>
          </a:xfrm>
          <a:prstGeom prst="wedgeRectCallout">
            <a:avLst>
              <a:gd name="adj1" fmla="val -164130"/>
              <a:gd name="adj2" fmla="val 42114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This is the final unsolved example.</a:t>
            </a:r>
            <a:endParaRPr lang="en-IN" sz="1000" dirty="0"/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431F6DAF-C60B-EB80-07B0-5EE8465F25DF}"/>
              </a:ext>
            </a:extLst>
          </p:cNvPr>
          <p:cNvSpPr/>
          <p:nvPr/>
        </p:nvSpPr>
        <p:spPr>
          <a:xfrm>
            <a:off x="9382307" y="6223615"/>
            <a:ext cx="2367539" cy="421801"/>
          </a:xfrm>
          <a:prstGeom prst="wedgeRectCallout">
            <a:avLst>
              <a:gd name="adj1" fmla="val -171401"/>
              <a:gd name="adj2" fmla="val -174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This tells </a:t>
            </a:r>
            <a:r>
              <a:rPr lang="en-US" sz="1000" dirty="0" err="1"/>
              <a:t>LangChain</a:t>
            </a:r>
            <a:r>
              <a:rPr lang="en-US" sz="1000" dirty="0"/>
              <a:t> that the final prompt needs one variable from the user: input.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3506378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1BB81-DEB4-A255-A500-CBFFD48A8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24004-0B66-BACB-0152-09D1995BA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91" y="194228"/>
            <a:ext cx="6327487" cy="417717"/>
          </a:xfrm>
        </p:spPr>
        <p:txBody>
          <a:bodyPr anchor="t">
            <a:noAutofit/>
          </a:bodyPr>
          <a:lstStyle/>
          <a:p>
            <a:r>
              <a:rPr lang="en-IN" sz="2400" b="1" dirty="0"/>
              <a:t>LLMs</a:t>
            </a:r>
            <a:br>
              <a:rPr lang="en-IN" b="1" dirty="0"/>
            </a:br>
            <a:br>
              <a:rPr lang="en-IN" sz="3200" b="1" dirty="0"/>
            </a:br>
            <a:br>
              <a:rPr lang="en-US" sz="3200" b="1" dirty="0"/>
            </a:b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4D6AF1-BB03-99CE-8AEF-5C50A63C31CA}"/>
              </a:ext>
            </a:extLst>
          </p:cNvPr>
          <p:cNvSpPr txBox="1"/>
          <p:nvPr/>
        </p:nvSpPr>
        <p:spPr>
          <a:xfrm>
            <a:off x="408591" y="756530"/>
            <a:ext cx="1135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The LLM class wraps text-completion endpoints (e.g. </a:t>
            </a:r>
            <a:r>
              <a:rPr lang="en-US" sz="1600" b="1" dirty="0"/>
              <a:t>gpt-3.5-turbo-instruct</a:t>
            </a:r>
            <a:r>
              <a:rPr lang="en-US" sz="1600" dirty="0"/>
              <a:t> or </a:t>
            </a:r>
            <a:r>
              <a:rPr lang="en-IN" sz="1600" b="1" dirty="0"/>
              <a:t>meta-llama-3.1-8b-instruct running locally </a:t>
            </a:r>
            <a:r>
              <a:rPr lang="en-IN" sz="1600" dirty="0"/>
              <a:t>etc</a:t>
            </a:r>
            <a:r>
              <a:rPr lang="en-US" sz="1600" dirty="0"/>
              <a:t>).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You control creativity via temperature, response length via max_tokens, and can call in batch or stream token-by-token.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438EEA-94BA-8B9B-513F-E9F95969DEF1}"/>
              </a:ext>
            </a:extLst>
          </p:cNvPr>
          <p:cNvSpPr txBox="1"/>
          <p:nvPr/>
        </p:nvSpPr>
        <p:spPr>
          <a:xfrm>
            <a:off x="538673" y="1984834"/>
            <a:ext cx="9233684" cy="440120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langchain_openai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ChatOpenAI</a:t>
            </a:r>
          </a:p>
          <a:p>
            <a:pPr>
              <a:lnSpc>
                <a:spcPts val="1425"/>
              </a:lnSpc>
              <a:buNone/>
            </a:pP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ChatOpenAI(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"meta-llama-3.1-8b-instruct"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base_url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"http://192.168.37.1:1234/v1"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api_key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"lm-studio"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0.7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 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max_tokens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── Single call ────────────────────────────────────────────────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.invoke(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"List 3 use cases of LangChain:"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.content)</a:t>
            </a:r>
          </a:p>
          <a:p>
            <a:pPr>
              <a:lnSpc>
                <a:spcPts val="1425"/>
              </a:lnSpc>
              <a:buNone/>
            </a:pP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── Batch ──────────────────────────────────────────────────────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responses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.batch([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"Capital of France?"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"Capital of Japan?"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responses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.content.strip())</a:t>
            </a:r>
          </a:p>
          <a:p>
            <a:pPr>
              <a:lnSpc>
                <a:spcPts val="1425"/>
              </a:lnSpc>
              <a:buNone/>
            </a:pP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── Streaming ──────────────────────────────────────────────────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chunk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.stream(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"Explain embeddings in one paragraph:"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chunk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.content: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chunk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.content,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flush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C543B0-5C05-F4CB-6BF5-A53D3BA041FC}"/>
              </a:ext>
            </a:extLst>
          </p:cNvPr>
          <p:cNvSpPr txBox="1"/>
          <p:nvPr/>
        </p:nvSpPr>
        <p:spPr>
          <a:xfrm>
            <a:off x="538673" y="1650288"/>
            <a:ext cx="30002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dirty="0">
                <a:solidFill>
                  <a:schemeClr val="accent6"/>
                </a:solidFill>
                <a:effectLst/>
                <a:latin typeface="IBM Plex Mono" panose="020B0509050203000203" pitchFamily="49" charset="0"/>
              </a:rPr>
              <a:t>02_llms.py</a:t>
            </a:r>
            <a:endParaRPr lang="en-IN" sz="1400" dirty="0">
              <a:solidFill>
                <a:schemeClr val="accent6"/>
              </a:solidFill>
            </a:endParaRP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79D66B11-22D8-0D03-79FE-93083BD13C29}"/>
              </a:ext>
            </a:extLst>
          </p:cNvPr>
          <p:cNvSpPr/>
          <p:nvPr/>
        </p:nvSpPr>
        <p:spPr>
          <a:xfrm>
            <a:off x="5155514" y="2498584"/>
            <a:ext cx="3406066" cy="564948"/>
          </a:xfrm>
          <a:prstGeom prst="wedgeRectCallout">
            <a:avLst>
              <a:gd name="adj1" fmla="val -133295"/>
              <a:gd name="adj2" fmla="val 75131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/>
              <a:t>Lower temperature → more predictable, focused, repeatable</a:t>
            </a:r>
          </a:p>
          <a:p>
            <a:r>
              <a:rPr lang="en-US" sz="1000" dirty="0"/>
              <a:t>Higher temperature → more varied, creative, less predictable.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1010915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BF77E-EE70-F031-5280-67F23CE14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C1A5E-0737-B4BE-3110-797E4C7F6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91" y="194228"/>
            <a:ext cx="6327487" cy="417717"/>
          </a:xfrm>
        </p:spPr>
        <p:txBody>
          <a:bodyPr anchor="t">
            <a:noAutofit/>
          </a:bodyPr>
          <a:lstStyle/>
          <a:p>
            <a:r>
              <a:rPr lang="en-IN" sz="2400" b="1" dirty="0"/>
              <a:t>Chat Models</a:t>
            </a:r>
            <a:br>
              <a:rPr lang="en-IN" b="1" dirty="0"/>
            </a:br>
            <a:br>
              <a:rPr lang="en-IN" sz="3200" b="1" dirty="0"/>
            </a:br>
            <a:br>
              <a:rPr lang="en-US" sz="3200" b="1" dirty="0"/>
            </a:b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9CFC6D-A8BD-ABE0-D237-0B042BEAAC2B}"/>
              </a:ext>
            </a:extLst>
          </p:cNvPr>
          <p:cNvSpPr txBox="1"/>
          <p:nvPr/>
        </p:nvSpPr>
        <p:spPr>
          <a:xfrm>
            <a:off x="408591" y="762626"/>
            <a:ext cx="1135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Chat models accept a list of typed messages (System / Human / AI) and return an AIMessage.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This maps directly to the conversational interface of modern models like GPT-4o, Claude, or Gemini.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B8D4C7-02B7-52DE-424A-DCA45DCDCCAD}"/>
              </a:ext>
            </a:extLst>
          </p:cNvPr>
          <p:cNvSpPr txBox="1"/>
          <p:nvPr/>
        </p:nvSpPr>
        <p:spPr>
          <a:xfrm>
            <a:off x="645353" y="2160369"/>
            <a:ext cx="10135248" cy="422166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langchain_openai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ChatOpenAI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langchain_core.messages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SystemMessage, HumanMessage, AIMessage</a:t>
            </a:r>
          </a:p>
          <a:p>
            <a:pPr>
              <a:lnSpc>
                <a:spcPts val="1425"/>
              </a:lnSpc>
              <a:buNone/>
            </a:pPr>
            <a:b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chat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ChatOpenAI(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"meta-llama-3.1-8b-instruct"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base_url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"http://192.168.37.1:1234/v1"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api_key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"lm-studio"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0.7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en-IN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#lower value like 0.0 → more deterministic, stable, direct 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max_tokens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messages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SystemMessage(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"You are a concise technical assistant."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HumanMessage(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"What is LangChain?"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AIMessage(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"LangChain is a framework for building LLM apps."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HumanMessage(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"Name its 3 core modules."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b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chat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.invoke(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messages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.content)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FABCCC-EFD5-1038-98F5-E3ADE01CC3D0}"/>
              </a:ext>
            </a:extLst>
          </p:cNvPr>
          <p:cNvSpPr txBox="1"/>
          <p:nvPr/>
        </p:nvSpPr>
        <p:spPr>
          <a:xfrm>
            <a:off x="645353" y="1780817"/>
            <a:ext cx="30002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dirty="0">
                <a:solidFill>
                  <a:schemeClr val="accent6"/>
                </a:solidFill>
                <a:effectLst/>
                <a:latin typeface="IBM Plex Mono" panose="020B0509050203000203" pitchFamily="49" charset="0"/>
              </a:rPr>
              <a:t>03_chat_models.py</a:t>
            </a:r>
            <a:endParaRPr lang="en-IN" sz="1400" dirty="0">
              <a:solidFill>
                <a:schemeClr val="accent6"/>
              </a:solidFill>
            </a:endParaRPr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C9DD0816-ABF5-A76F-0E04-C32FCABC8C20}"/>
              </a:ext>
            </a:extLst>
          </p:cNvPr>
          <p:cNvSpPr/>
          <p:nvPr/>
        </p:nvSpPr>
        <p:spPr>
          <a:xfrm>
            <a:off x="8440365" y="3837299"/>
            <a:ext cx="1810233" cy="1352067"/>
          </a:xfrm>
          <a:prstGeom prst="wedgeRectCallout">
            <a:avLst>
              <a:gd name="adj1" fmla="val -131060"/>
              <a:gd name="adj2" fmla="val 48579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With </a:t>
            </a:r>
            <a:r>
              <a:rPr lang="en-US" sz="1000" b="1" dirty="0" err="1"/>
              <a:t>AIMessage</a:t>
            </a:r>
            <a:endParaRPr lang="en-US" sz="1000" b="1" dirty="0"/>
          </a:p>
          <a:p>
            <a:r>
              <a:rPr lang="en-US" sz="1000" dirty="0"/>
              <a:t>Model understands:</a:t>
            </a:r>
          </a:p>
          <a:p>
            <a:r>
              <a:rPr lang="en-US" sz="1000" dirty="0"/>
              <a:t>topic = </a:t>
            </a:r>
            <a:r>
              <a:rPr lang="en-US" sz="1000" dirty="0" err="1"/>
              <a:t>LangChain</a:t>
            </a:r>
            <a:r>
              <a:rPr lang="en-US" sz="1000" dirty="0"/>
              <a:t> </a:t>
            </a:r>
          </a:p>
          <a:p>
            <a:r>
              <a:rPr lang="en-US" sz="1000" dirty="0"/>
              <a:t>“its” means </a:t>
            </a:r>
            <a:r>
              <a:rPr lang="en-US" sz="1000" dirty="0" err="1"/>
              <a:t>LangChain</a:t>
            </a:r>
            <a:r>
              <a:rPr lang="en-US" sz="1000" dirty="0"/>
              <a:t> </a:t>
            </a:r>
          </a:p>
          <a:p>
            <a:endParaRPr lang="en-US" sz="1000" dirty="0"/>
          </a:p>
          <a:p>
            <a:r>
              <a:rPr lang="en-US" sz="1000" b="1" dirty="0"/>
              <a:t>Without </a:t>
            </a:r>
            <a:r>
              <a:rPr lang="en-US" sz="1000" b="1" dirty="0" err="1"/>
              <a:t>AIMessage</a:t>
            </a:r>
            <a:endParaRPr lang="en-US" sz="1000" b="1" dirty="0"/>
          </a:p>
          <a:p>
            <a:r>
              <a:rPr lang="en-US" sz="1000" dirty="0"/>
              <a:t>Model may be less clear about:</a:t>
            </a:r>
          </a:p>
          <a:p>
            <a:r>
              <a:rPr lang="en-US" sz="1000" dirty="0"/>
              <a:t>what “its” refers to</a:t>
            </a: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8EDF76BF-1C22-E68B-2FEF-AF5B041421D5}"/>
              </a:ext>
            </a:extLst>
          </p:cNvPr>
          <p:cNvSpPr/>
          <p:nvPr/>
        </p:nvSpPr>
        <p:spPr>
          <a:xfrm>
            <a:off x="7471182" y="5243602"/>
            <a:ext cx="3012385" cy="361400"/>
          </a:xfrm>
          <a:prstGeom prst="wedgeRectCallout">
            <a:avLst>
              <a:gd name="adj1" fmla="val -75958"/>
              <a:gd name="adj2" fmla="val -43280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/>
              <a:t>Here AI message is supplied as fake history manually, just for demo purpose!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68442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5F07E-2650-1664-5EC5-0214B6357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D410E-96EE-CE4D-7227-7F4959791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91" y="194228"/>
            <a:ext cx="6327487" cy="417717"/>
          </a:xfrm>
        </p:spPr>
        <p:txBody>
          <a:bodyPr anchor="t">
            <a:noAutofit/>
          </a:bodyPr>
          <a:lstStyle/>
          <a:p>
            <a:r>
              <a:rPr lang="en-IN" sz="2400" b="1" dirty="0"/>
              <a:t>Output Parsers</a:t>
            </a:r>
            <a:br>
              <a:rPr lang="en-IN" b="1" dirty="0"/>
            </a:br>
            <a:br>
              <a:rPr lang="en-IN" sz="3200" b="1" dirty="0"/>
            </a:br>
            <a:br>
              <a:rPr lang="en-US" sz="3200" b="1" dirty="0"/>
            </a:b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393492-AB12-A32A-191C-B8CEDD660AA0}"/>
              </a:ext>
            </a:extLst>
          </p:cNvPr>
          <p:cNvSpPr txBox="1"/>
          <p:nvPr/>
        </p:nvSpPr>
        <p:spPr>
          <a:xfrm>
            <a:off x="420000" y="611945"/>
            <a:ext cx="1135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Raw LLM output is a string. Output parsers transform it into structured Python types — a plain string, a list, or a validated Pydantic model — making downstream processing reliable.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747F1D-03E4-A8AE-55BA-3F857D917A27}"/>
              </a:ext>
            </a:extLst>
          </p:cNvPr>
          <p:cNvSpPr txBox="1"/>
          <p:nvPr/>
        </p:nvSpPr>
        <p:spPr>
          <a:xfrm>
            <a:off x="408591" y="1599339"/>
            <a:ext cx="6439249" cy="51074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langchain_openai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ChatOpenAI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langchain_core.prompts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PromptTemplate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langchain_core.output_parsers </a:t>
            </a:r>
            <a:r>
              <a:rPr lang="en-IN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StrOutputParser, CommaSeparatedListOutputParser</a:t>
            </a:r>
          </a:p>
          <a:p>
            <a:pPr>
              <a:lnSpc>
                <a:spcPts val="1425"/>
              </a:lnSpc>
              <a:buNone/>
            </a:pP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Create connection to local LLM</a:t>
            </a: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ChatOpenAI(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"meta-llama-3.1-8b-instruct"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base_url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"http://192.168.37.1:1234/v1"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api_key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"lm-studio"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max_tokens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256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Example 1: String output</a:t>
            </a: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--- Example 1: StrOutputParser ---"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Create prompt</a:t>
            </a: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prompt1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PromptTemplate.from_template(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"What is </a:t>
            </a:r>
            <a:r>
              <a:rPr lang="en-IN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{item}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? Explain in 1 simple sentence."</a:t>
            </a: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Build chain: Prompt -&gt; LLM -&gt; Output Parser</a:t>
            </a: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chain1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prompt1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StrOutputParser()</a:t>
            </a:r>
          </a:p>
          <a:p>
            <a:pPr>
              <a:lnSpc>
                <a:spcPts val="1425"/>
              </a:lnSpc>
              <a:buNone/>
            </a:pP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Run chain</a:t>
            </a: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output1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chain1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.invoke({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"item"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"Vector Database"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425"/>
              </a:lnSpc>
              <a:buNone/>
            </a:pP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Print result</a:t>
            </a: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output1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16578E-BC77-213D-8C0E-7FE4C7EA4353}"/>
              </a:ext>
            </a:extLst>
          </p:cNvPr>
          <p:cNvSpPr txBox="1"/>
          <p:nvPr/>
        </p:nvSpPr>
        <p:spPr>
          <a:xfrm>
            <a:off x="8434418" y="1017649"/>
            <a:ext cx="30002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dirty="0">
                <a:solidFill>
                  <a:schemeClr val="accent6"/>
                </a:solidFill>
                <a:effectLst/>
                <a:latin typeface="IBM Plex Mono" panose="020B0509050203000203" pitchFamily="49" charset="0"/>
              </a:rPr>
              <a:t>04_output_parsers.py</a:t>
            </a:r>
            <a:endParaRPr lang="en-IN" sz="1400" dirty="0">
              <a:solidFill>
                <a:schemeClr val="accent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5657D4-85A3-4D61-2508-136B2A5143FA}"/>
              </a:ext>
            </a:extLst>
          </p:cNvPr>
          <p:cNvSpPr txBox="1"/>
          <p:nvPr/>
        </p:nvSpPr>
        <p:spPr>
          <a:xfrm>
            <a:off x="6987519" y="1607239"/>
            <a:ext cx="5011441" cy="492788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Example 2: List output</a:t>
            </a: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--- Example 2: CommaSeparatedListOutputParser ---"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Create list parser</a:t>
            </a: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list_parser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CommaSeparatedListOutputParser()</a:t>
            </a:r>
          </a:p>
          <a:p>
            <a:pPr>
              <a:lnSpc>
                <a:spcPts val="1425"/>
              </a:lnSpc>
              <a:buNone/>
            </a:pP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Create prompt with parser instructions</a:t>
            </a: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prompt2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PromptTemplate(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"Name 5 cloud platforms.</a:t>
            </a:r>
            <a:r>
              <a:rPr lang="en-IN" sz="1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{format_instructions}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),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input_variables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[],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partial_variables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"format_instructions"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list_parser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.get_format_instructions()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},</a:t>
            </a: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Build chain</a:t>
            </a: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chain2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prompt2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list_parser</a:t>
            </a: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Run chain</a:t>
            </a: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output2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chain2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.invoke({})</a:t>
            </a:r>
          </a:p>
          <a:p>
            <a:pPr>
              <a:lnSpc>
                <a:spcPts val="1425"/>
              </a:lnSpc>
              <a:buNone/>
            </a:pP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Print result</a:t>
            </a:r>
            <a:endParaRPr lang="en-IN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output2</a:t>
            </a:r>
            <a:r>
              <a:rPr lang="en-IN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E0B52D64-B864-373D-06E4-032EC332B545}"/>
              </a:ext>
            </a:extLst>
          </p:cNvPr>
          <p:cNvSpPr/>
          <p:nvPr/>
        </p:nvSpPr>
        <p:spPr>
          <a:xfrm>
            <a:off x="9825431" y="2937218"/>
            <a:ext cx="1887043" cy="607566"/>
          </a:xfrm>
          <a:prstGeom prst="wedgeRectCallout">
            <a:avLst>
              <a:gd name="adj1" fmla="val -66797"/>
              <a:gd name="adj2" fmla="val 28927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asking the model a question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telling the model how the answer should be formatted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76272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50ADE-9EFC-4AFF-E7C2-4139C368A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51D9E-FE21-2AEB-BA08-E745DEFD9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91" y="194228"/>
            <a:ext cx="6327487" cy="417717"/>
          </a:xfrm>
        </p:spPr>
        <p:txBody>
          <a:bodyPr anchor="t">
            <a:noAutofit/>
          </a:bodyPr>
          <a:lstStyle/>
          <a:p>
            <a:r>
              <a:rPr lang="en-IN" sz="2400" b="1" dirty="0"/>
              <a:t>Prompt Engineering</a:t>
            </a:r>
            <a:br>
              <a:rPr lang="en-IN" b="1" dirty="0"/>
            </a:br>
            <a:br>
              <a:rPr lang="en-IN" sz="3200" b="1" dirty="0"/>
            </a:br>
            <a:br>
              <a:rPr lang="en-US" sz="3200" b="1" dirty="0"/>
            </a:b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5E133A-70EB-640D-8ED9-4F86ADC42EDB}"/>
              </a:ext>
            </a:extLst>
          </p:cNvPr>
          <p:cNvSpPr txBox="1"/>
          <p:nvPr/>
        </p:nvSpPr>
        <p:spPr>
          <a:xfrm>
            <a:off x="420000" y="824718"/>
            <a:ext cx="1135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/>
              <a:t>Prompt engineering</a:t>
            </a:r>
            <a:r>
              <a:rPr lang="en-US" sz="2000" dirty="0"/>
              <a:t> is the practice of designing prompts so an </a:t>
            </a:r>
            <a:r>
              <a:rPr lang="en-US" sz="2000" b="1" dirty="0"/>
              <a:t>LLM</a:t>
            </a:r>
            <a:r>
              <a:rPr lang="en-US" sz="2000" dirty="0"/>
              <a:t> gives more </a:t>
            </a:r>
            <a:r>
              <a:rPr lang="en-US" sz="2000" b="1" dirty="0"/>
              <a:t>reliable</a:t>
            </a:r>
            <a:r>
              <a:rPr lang="en-US" sz="2000" dirty="0"/>
              <a:t>, </a:t>
            </a:r>
            <a:r>
              <a:rPr lang="en-US" sz="2000" b="1" dirty="0"/>
              <a:t>clear</a:t>
            </a:r>
            <a:r>
              <a:rPr lang="en-US" sz="2000" dirty="0"/>
              <a:t>, and </a:t>
            </a:r>
            <a:r>
              <a:rPr lang="en-US" sz="2000" b="1" dirty="0"/>
              <a:t>useful</a:t>
            </a:r>
            <a:r>
              <a:rPr lang="en-US" sz="2000" dirty="0"/>
              <a:t> output.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It means writing inputs in a way that helps the model respond in the style, format, and quality you want.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Beyond simple templates, advanced techniques like </a:t>
            </a:r>
            <a:r>
              <a:rPr lang="en-US" sz="2000" b="1" dirty="0"/>
              <a:t>Chain-of-Thought</a:t>
            </a:r>
            <a:r>
              <a:rPr lang="en-US" sz="2000" dirty="0"/>
              <a:t>, </a:t>
            </a:r>
            <a:r>
              <a:rPr lang="en-US" sz="2000" b="1" dirty="0"/>
              <a:t>role assignment</a:t>
            </a:r>
            <a:r>
              <a:rPr lang="en-US" sz="2000" dirty="0"/>
              <a:t>, </a:t>
            </a:r>
            <a:r>
              <a:rPr lang="en-US" sz="2000" b="1" dirty="0"/>
              <a:t>format instructions</a:t>
            </a:r>
            <a:r>
              <a:rPr lang="en-US" sz="2000" dirty="0"/>
              <a:t>, and </a:t>
            </a:r>
            <a:r>
              <a:rPr lang="en-US" sz="2000" b="1" dirty="0"/>
              <a:t>few-shot examples</a:t>
            </a:r>
            <a:r>
              <a:rPr lang="en-US" sz="2000" dirty="0"/>
              <a:t> can greatly improve </a:t>
            </a:r>
            <a:r>
              <a:rPr lang="en-US" sz="2000" b="1" dirty="0"/>
              <a:t>response quality</a:t>
            </a:r>
            <a:r>
              <a:rPr lang="en-US" sz="2000" dirty="0"/>
              <a:t>, </a:t>
            </a:r>
            <a:r>
              <a:rPr lang="en-US" sz="2000" b="1" dirty="0"/>
              <a:t>consistency</a:t>
            </a:r>
            <a:r>
              <a:rPr lang="en-US" sz="2000" dirty="0"/>
              <a:t>, and </a:t>
            </a:r>
            <a:r>
              <a:rPr lang="en-US" sz="2000" b="1" dirty="0"/>
              <a:t>structure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2738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CCDC6-924C-8A50-3DEC-C77655EF7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6F2C8-E028-D0F6-8F20-DB56F4A87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91" y="194228"/>
            <a:ext cx="6327487" cy="417717"/>
          </a:xfrm>
        </p:spPr>
        <p:txBody>
          <a:bodyPr anchor="t">
            <a:noAutofit/>
          </a:bodyPr>
          <a:lstStyle/>
          <a:p>
            <a:r>
              <a:rPr lang="en-IN" sz="2400" b="1" dirty="0"/>
              <a:t>Role Prompting</a:t>
            </a:r>
            <a:br>
              <a:rPr lang="en-IN" b="1" dirty="0"/>
            </a:br>
            <a:br>
              <a:rPr lang="en-IN" sz="3200" b="1" dirty="0"/>
            </a:br>
            <a:br>
              <a:rPr lang="en-US" sz="3200" b="1" dirty="0"/>
            </a:b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CA5374-046F-B417-65BF-C458D05296D0}"/>
              </a:ext>
            </a:extLst>
          </p:cNvPr>
          <p:cNvSpPr txBox="1"/>
          <p:nvPr/>
        </p:nvSpPr>
        <p:spPr>
          <a:xfrm>
            <a:off x="420000" y="611945"/>
            <a:ext cx="1135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Assign a </a:t>
            </a:r>
            <a:r>
              <a:rPr lang="en-US" sz="1600" b="1" dirty="0"/>
              <a:t>persona via the system message</a:t>
            </a:r>
            <a:r>
              <a:rPr lang="en-US" sz="1600" dirty="0"/>
              <a:t>. The model adopts that expertise level, tone, and vocabulary for the entire conversation — a simple but highly effective technique.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C00E8B-1A1F-5420-8DC3-8F6108A0FC59}"/>
              </a:ext>
            </a:extLst>
          </p:cNvPr>
          <p:cNvSpPr txBox="1"/>
          <p:nvPr/>
        </p:nvSpPr>
        <p:spPr>
          <a:xfrm>
            <a:off x="328560" y="1301333"/>
            <a:ext cx="6996800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langchain_openai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ChatOpenAI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langchain_core.prompts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ChatPromptTemplate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langchain_core.output_parsers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StrOutputParser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── Local LLM Configuration ────────────────────────────────────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ChatOpenAI(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"meta-llama-3.1-8b-instruct"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base_url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"http://192.168.37.1:1234/v1"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api_key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"lm-studio"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max_tokens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── Role: Senior Security Auditor ──────────────────────────────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ChatPromptTemplate.from_messages([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(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"system"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"You are a senior cybersecurity auditor with 15 years of experience. "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"Respond with precise, actionable findings only. No fluff."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(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"human"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"Review this practice: </a:t>
            </a:r>
            <a:r>
              <a:rPr lang="en-IN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{practice}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chain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StrOutputParser()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--- Security Auditor Output ---"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chain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.invoke({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"practice"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"We store API keys in environment variables on a shared dev server."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CC48B4-98D6-9783-8BBA-6AD1EDC0910A}"/>
              </a:ext>
            </a:extLst>
          </p:cNvPr>
          <p:cNvSpPr txBox="1"/>
          <p:nvPr/>
        </p:nvSpPr>
        <p:spPr>
          <a:xfrm>
            <a:off x="7721600" y="1207733"/>
            <a:ext cx="30002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dirty="0">
                <a:solidFill>
                  <a:schemeClr val="accent6"/>
                </a:solidFill>
                <a:effectLst/>
                <a:latin typeface="IBM Plex Mono" panose="020B0509050203000203" pitchFamily="49" charset="0"/>
              </a:rPr>
              <a:t>pe_01_role_prompting.py</a:t>
            </a:r>
            <a:endParaRPr lang="en-IN" sz="1400" dirty="0">
              <a:solidFill>
                <a:schemeClr val="accent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D2B4A6-B039-0DE6-39ED-60FF86C2D6FB}"/>
              </a:ext>
            </a:extLst>
          </p:cNvPr>
          <p:cNvSpPr txBox="1"/>
          <p:nvPr/>
        </p:nvSpPr>
        <p:spPr>
          <a:xfrm>
            <a:off x="7399920" y="1689532"/>
            <a:ext cx="4720960" cy="36830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── Role: Friendly Explainer ───────────────────────────────────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simple_prompt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ChatPromptTemplate.from_messages([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(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"system"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"You are a patient teacher explaining complex topics to a 10-year-old. "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"Use simple words and fun analogies."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(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"human"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"Explain: </a:t>
            </a:r>
            <a:r>
              <a:rPr lang="en-IN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{topic}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simple_chain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simple_prompt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StrOutputParser()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--- Friendly Explainer Output ---"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simple_chain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.invoke({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"topic"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"How does a RAG pipeline work?"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}))</a:t>
            </a:r>
          </a:p>
        </p:txBody>
      </p:sp>
    </p:spTree>
    <p:extLst>
      <p:ext uri="{BB962C8B-B14F-4D97-AF65-F5344CB8AC3E}">
        <p14:creationId xmlns:p14="http://schemas.microsoft.com/office/powerpoint/2010/main" val="2986532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71A6A-0596-DE18-144F-F2DB190C8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CC723-B4B9-1A30-59EB-C1001A36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91" y="142434"/>
            <a:ext cx="6327487" cy="417717"/>
          </a:xfrm>
        </p:spPr>
        <p:txBody>
          <a:bodyPr anchor="t">
            <a:noAutofit/>
          </a:bodyPr>
          <a:lstStyle/>
          <a:p>
            <a:r>
              <a:rPr lang="en-IN" sz="2400" b="1" dirty="0"/>
              <a:t>Chain-of-Thought(CoT) Prompting</a:t>
            </a:r>
            <a:br>
              <a:rPr lang="en-IN" b="1" dirty="0"/>
            </a:br>
            <a:br>
              <a:rPr lang="en-IN" sz="3200" b="1" dirty="0"/>
            </a:br>
            <a:br>
              <a:rPr lang="en-US" sz="3200" b="1" dirty="0"/>
            </a:b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371E98-6C22-743D-B2A2-19C785C7F1A6}"/>
              </a:ext>
            </a:extLst>
          </p:cNvPr>
          <p:cNvSpPr txBox="1"/>
          <p:nvPr/>
        </p:nvSpPr>
        <p:spPr>
          <a:xfrm>
            <a:off x="408591" y="621026"/>
            <a:ext cx="1135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Instructing the model to </a:t>
            </a:r>
            <a:r>
              <a:rPr lang="en-US" sz="1600" i="1" dirty="0"/>
              <a:t>"</a:t>
            </a:r>
            <a:r>
              <a:rPr lang="en-US" sz="1600" b="1" i="1" dirty="0"/>
              <a:t>think step by step"</a:t>
            </a:r>
            <a:r>
              <a:rPr lang="en-US" sz="1600" b="1" dirty="0"/>
              <a:t> </a:t>
            </a:r>
            <a:r>
              <a:rPr lang="en-US" sz="1600" dirty="0"/>
              <a:t>before giving the final answer dramatically improves accuracy on reasoning tasks — math, logic, multi-hop questions.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CoT makes the reasoning explicit and auditable.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9E43CF-23B3-E433-C032-E10FF4A1E070}"/>
              </a:ext>
            </a:extLst>
          </p:cNvPr>
          <p:cNvSpPr txBox="1"/>
          <p:nvPr/>
        </p:nvSpPr>
        <p:spPr>
          <a:xfrm>
            <a:off x="339382" y="1776097"/>
            <a:ext cx="5756618" cy="475168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langchain_openai </a:t>
            </a:r>
            <a:r>
              <a:rPr lang="en-IN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ChatOpenAI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langchain_core.prompts </a:t>
            </a:r>
            <a:r>
              <a:rPr lang="en-IN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ChatPromptTemplate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langchain_core.output_parsers </a:t>
            </a:r>
            <a:r>
              <a:rPr lang="en-IN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StrOutputParser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── Local LLM Configuration ────────────────────────────────────</a:t>
            </a:r>
            <a:endParaRPr lang="en-IN" sz="11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ChatOpenAI(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"meta-llama-3.1-8b-instruct"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base_url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"http://192.168.37.1:1234/v1"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api_key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"lm-studio"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max_tokens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512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── Example 1: Zero-shot Step-by-Step Prompting ────────────────</a:t>
            </a:r>
            <a:endParaRPr lang="en-IN" sz="11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--- Example 1: Zero-shot CoT ---"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cot_prompt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ChatPromptTemplate.from_messages([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"system"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"Think step by step and keep the answer simple."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"human"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"Solve this problem: </a:t>
            </a:r>
            <a:r>
              <a:rPr lang="en-IN" sz="11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{problem}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cot_chain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cot_prompt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StrOutputParser()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problems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"If a car travels 60 km in 2 hours, what is its speed per hour?"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"What is 15 + 27?"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problems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Problem: </a:t>
            </a:r>
            <a:r>
              <a:rPr lang="en-IN" sz="11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sz="11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cot_chain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.invoke({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"problem"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}))</a:t>
            </a:r>
          </a:p>
          <a:p>
            <a:pPr>
              <a:lnSpc>
                <a:spcPts val="1425"/>
              </a:lnSpc>
              <a:buNone/>
            </a:pPr>
            <a:endParaRPr lang="en-IN" sz="11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3012FA-C0B9-60D5-529C-A1A72E186A20}"/>
              </a:ext>
            </a:extLst>
          </p:cNvPr>
          <p:cNvSpPr txBox="1"/>
          <p:nvPr/>
        </p:nvSpPr>
        <p:spPr>
          <a:xfrm>
            <a:off x="6945022" y="1339424"/>
            <a:ext cx="30002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chemeClr val="accent6"/>
                </a:solidFill>
                <a:effectLst/>
                <a:latin typeface="IBM Plex Mono" panose="020B0509050203000203" pitchFamily="49" charset="0"/>
              </a:rPr>
              <a:t>pe_02_chain_of_thought.py</a:t>
            </a:r>
            <a:endParaRPr lang="en-IN" sz="1400" dirty="0">
              <a:solidFill>
                <a:schemeClr val="accent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7280C8-CE70-A687-1E20-4EA6FEC5F26E}"/>
              </a:ext>
            </a:extLst>
          </p:cNvPr>
          <p:cNvSpPr txBox="1"/>
          <p:nvPr/>
        </p:nvSpPr>
        <p:spPr>
          <a:xfrm>
            <a:off x="6161062" y="1851453"/>
            <a:ext cx="5756618" cy="34949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── Example 2: Few-shot Prompting ──────────────────────────────</a:t>
            </a:r>
            <a:endParaRPr lang="en-IN" sz="11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--- Example 2: Few-shot CoT ---"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few_shot_prompt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ChatPromptTemplate.from_messages([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"system"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"Solve the problem step by step like the example."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(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"human"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"Example:</a:t>
            </a:r>
            <a:r>
              <a:rPr lang="en-IN" sz="1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endParaRPr lang="en-IN" sz="11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"Q: 10 mangoes cost 50 rupees. What is the cost of 1 mango?</a:t>
            </a:r>
            <a:r>
              <a:rPr lang="en-IN" sz="1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endParaRPr lang="en-IN" sz="11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"A: 1 mango costs 50 / 10 = 5 rupees. Final Answer: 5 rupees."</a:t>
            </a:r>
            <a:endParaRPr lang="en-IN" sz="11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),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"ai"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"Okay, I will follow the same style."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"human"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"Now solve this:</a:t>
            </a:r>
            <a:r>
              <a:rPr lang="en-IN" sz="1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Q: </a:t>
            </a:r>
            <a:r>
              <a:rPr lang="en-IN" sz="11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{question}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few_shot_chain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few_shot_prompt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StrOutputParser()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few_shot_chain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.invoke({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"question"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1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"6 notebooks cost 120 rupees. What is the cost of 1 notebook?"</a:t>
            </a:r>
            <a:endParaRPr lang="en-IN" sz="11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425"/>
              </a:lnSpc>
              <a:buNone/>
            </a:pPr>
            <a:r>
              <a:rPr lang="en-IN" sz="11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17178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0446B-67A3-8468-A6D6-64931DAB4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25D0A-9B30-24A5-6E77-7770459AE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91" y="194228"/>
            <a:ext cx="6327487" cy="417717"/>
          </a:xfrm>
        </p:spPr>
        <p:txBody>
          <a:bodyPr anchor="t">
            <a:noAutofit/>
          </a:bodyPr>
          <a:lstStyle/>
          <a:p>
            <a:r>
              <a:rPr lang="en-IN" sz="2400" b="1" dirty="0"/>
              <a:t>Format Instructions &amp; Structured Output</a:t>
            </a:r>
            <a:br>
              <a:rPr lang="en-IN" b="1" dirty="0"/>
            </a:br>
            <a:br>
              <a:rPr lang="en-IN" sz="3200" b="1" dirty="0"/>
            </a:br>
            <a:br>
              <a:rPr lang="en-US" sz="3200" b="1" dirty="0"/>
            </a:b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2D890B-E61D-89A6-5E86-0EB306407AEE}"/>
              </a:ext>
            </a:extLst>
          </p:cNvPr>
          <p:cNvSpPr txBox="1"/>
          <p:nvPr/>
        </p:nvSpPr>
        <p:spPr>
          <a:xfrm>
            <a:off x="464275" y="744532"/>
            <a:ext cx="310805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Tell the model the exact output format you want, such as </a:t>
            </a:r>
            <a:r>
              <a:rPr lang="en-US" sz="1600" b="1" dirty="0"/>
              <a:t>specific JSON keys </a:t>
            </a:r>
            <a:r>
              <a:rPr lang="en-US" sz="1600" dirty="0"/>
              <a:t>and even a </a:t>
            </a:r>
            <a:r>
              <a:rPr lang="en-US" sz="1600" b="1" dirty="0"/>
              <a:t>sample JSON structure.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In this example, the prompt clearly asks the local LLM to return only </a:t>
            </a:r>
            <a:r>
              <a:rPr lang="en-US" sz="1600" b="1" dirty="0"/>
              <a:t>valid JSON </a:t>
            </a:r>
            <a:r>
              <a:rPr lang="en-US" sz="1600" dirty="0"/>
              <a:t>with product, pros, cons, score, and verdict, which makes the response more predictable and easier to use in Python.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If you also combine this kind of format instruction with a </a:t>
            </a:r>
            <a:r>
              <a:rPr lang="en-US" sz="1600" b="1" dirty="0"/>
              <a:t>parser like PydanticOutputParser</a:t>
            </a:r>
            <a:r>
              <a:rPr lang="en-US" sz="1600" dirty="0"/>
              <a:t>, you can convert the LLM response into </a:t>
            </a:r>
            <a:r>
              <a:rPr lang="en-US" sz="1600" b="1" dirty="0"/>
              <a:t>validated Python objects </a:t>
            </a:r>
            <a:r>
              <a:rPr lang="en-US" sz="1600" dirty="0"/>
              <a:t>instead of handling raw text manually.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FDFD03-53B3-56A2-636A-EF585F09A5A5}"/>
              </a:ext>
            </a:extLst>
          </p:cNvPr>
          <p:cNvSpPr txBox="1"/>
          <p:nvPr/>
        </p:nvSpPr>
        <p:spPr>
          <a:xfrm>
            <a:off x="4705056" y="765164"/>
            <a:ext cx="7235484" cy="582723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langchain_openai </a:t>
            </a:r>
            <a:r>
              <a:rPr lang="en-IN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ChatOpenAI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langchain_core.prompts </a:t>
            </a:r>
            <a:r>
              <a:rPr lang="en-IN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PromptTemplate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ChatOpenAI(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5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"meta-llama-3.1-8b-instruct"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5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base_url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"http://192.168.224.1:1234/v1"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5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api_key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"lm-studio"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5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PromptTemplate.from_template(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"""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Review this product: </a:t>
            </a:r>
            <a:r>
              <a:rPr lang="en-IN" sz="105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{product}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Return only valid JSON with keys: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product, pros, cons, score, verdict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Example format: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{{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"product": "some product",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"pros": ["pro1", "pro2"],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"cons": ["con1", "con2"],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"score": 8.5,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"verdict": "Short final opinion"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}}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"""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chain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llm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chain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.invoke(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"product"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"LangChain for building RAG applications"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.content)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BE88C6-934C-9516-6FD8-CB968DEDEAB8}"/>
              </a:ext>
            </a:extLst>
          </p:cNvPr>
          <p:cNvSpPr txBox="1"/>
          <p:nvPr/>
        </p:nvSpPr>
        <p:spPr>
          <a:xfrm>
            <a:off x="7889902" y="311788"/>
            <a:ext cx="3372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dirty="0">
                <a:solidFill>
                  <a:schemeClr val="accent6"/>
                </a:solidFill>
                <a:effectLst/>
                <a:latin typeface="IBM Plex Mono" panose="020B0509050203000203" pitchFamily="49" charset="0"/>
              </a:rPr>
              <a:t>pe_03_format_instructions.py</a:t>
            </a:r>
            <a:endParaRPr lang="en-IN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960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75615-8EB4-F3BF-3CB9-08A81D774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A642B-C371-B5CF-07C6-64D7FCF8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751" y="249197"/>
            <a:ext cx="6327487" cy="417717"/>
          </a:xfrm>
        </p:spPr>
        <p:txBody>
          <a:bodyPr anchor="t">
            <a:noAutofit/>
          </a:bodyPr>
          <a:lstStyle/>
          <a:p>
            <a:r>
              <a:rPr lang="en-IN" sz="2400" b="1" dirty="0"/>
              <a:t>Prompt Composition Patterns</a:t>
            </a:r>
            <a:br>
              <a:rPr lang="en-IN" b="1" dirty="0"/>
            </a:br>
            <a:br>
              <a:rPr lang="en-IN" sz="3200" b="1" dirty="0"/>
            </a:br>
            <a:br>
              <a:rPr lang="en-US" sz="3200" b="1" dirty="0"/>
            </a:b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A63B63-E76D-D0D8-A882-4E5E2AAC2988}"/>
              </a:ext>
            </a:extLst>
          </p:cNvPr>
          <p:cNvSpPr txBox="1"/>
          <p:nvPr/>
        </p:nvSpPr>
        <p:spPr>
          <a:xfrm>
            <a:off x="298079" y="894152"/>
            <a:ext cx="224700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Real prompts often mix several prompting methods together.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This demo shows a practical prompt that </a:t>
            </a:r>
            <a:r>
              <a:rPr lang="en-US" sz="1600" b="1" dirty="0"/>
              <a:t>combines role assignment, clear output formatting, and few-shot examples to generate more consistent and reliable results </a:t>
            </a:r>
            <a:r>
              <a:rPr lang="en-US" sz="1600" dirty="0"/>
              <a:t>from the local LLM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DB25B5-B61D-7AF4-B43E-108D8E2A3AAC}"/>
              </a:ext>
            </a:extLst>
          </p:cNvPr>
          <p:cNvSpPr txBox="1"/>
          <p:nvPr/>
        </p:nvSpPr>
        <p:spPr>
          <a:xfrm>
            <a:off x="2760649" y="894152"/>
            <a:ext cx="4423703" cy="582723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langchain_openai </a:t>
            </a:r>
            <a:r>
              <a:rPr lang="en-IN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ChatOpenAI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langchain_core.prompts </a:t>
            </a:r>
            <a:r>
              <a:rPr lang="en-IN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ChatPromptTemplate, FewShotChatMessagePromptTemplate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langchain_core.output_parsers </a:t>
            </a:r>
            <a:r>
              <a:rPr lang="en-IN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StrOutputParser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ChatOpenAI(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5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"meta-llama-3.1-8b-instruct"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5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base_url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"http://192.168.224.1:1234/v1"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5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api_key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"lm-studio"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5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IN" sz="105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Few-shot examples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examples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"The server is down and users can't login."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"output"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"SEVERITY: High | CATEGORY: Availability | ACTION: Escalate to on-call engineer"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},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"The dashboard loads 2 seconds slower than last week."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"output"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"SEVERITY: Medium | CATEGORY: Performance | ACTION: Check DB queries"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},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example_prompt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ChatPromptTemplate.from_messages([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"human"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{input}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"ai"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{output}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DECD7E-24FB-34B2-CBD9-102BF1F79554}"/>
              </a:ext>
            </a:extLst>
          </p:cNvPr>
          <p:cNvSpPr txBox="1"/>
          <p:nvPr/>
        </p:nvSpPr>
        <p:spPr>
          <a:xfrm>
            <a:off x="7808622" y="458056"/>
            <a:ext cx="3372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dirty="0">
                <a:solidFill>
                  <a:schemeClr val="accent6"/>
                </a:solidFill>
                <a:effectLst/>
                <a:latin typeface="IBM Plex Mono" panose="020B0509050203000203" pitchFamily="49" charset="0"/>
              </a:rPr>
              <a:t>pe_04_composition.py</a:t>
            </a:r>
            <a:endParaRPr lang="en-IN" sz="1400" dirty="0">
              <a:solidFill>
                <a:schemeClr val="accent6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A232F9-7113-622F-4CE9-A50B7C636456}"/>
              </a:ext>
            </a:extLst>
          </p:cNvPr>
          <p:cNvSpPr txBox="1"/>
          <p:nvPr/>
        </p:nvSpPr>
        <p:spPr>
          <a:xfrm>
            <a:off x="7219500" y="894152"/>
            <a:ext cx="4794700" cy="564763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b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IN" sz="1050" dirty="0">
                <a:solidFill>
                  <a:srgbClr val="C9D1D9"/>
                </a:solidFill>
                <a:latin typeface="Consolas" panose="020B0609020204030204" pitchFamily="49" charset="0"/>
              </a:rPr>
              <a:t>few_shot_prompt</a:t>
            </a:r>
            <a:r>
              <a:rPr lang="en-IN" sz="105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IN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050" dirty="0">
                <a:solidFill>
                  <a:srgbClr val="BBBEBF"/>
                </a:solidFill>
                <a:latin typeface="Consolas" panose="020B0609020204030204" pitchFamily="49" charset="0"/>
              </a:rPr>
              <a:t> FewShotChatMessagePromptTemplate(</a:t>
            </a:r>
          </a:p>
          <a:p>
            <a:pPr>
              <a:lnSpc>
                <a:spcPts val="1425"/>
              </a:lnSpc>
              <a:buNone/>
            </a:pPr>
            <a:r>
              <a:rPr lang="en-IN" sz="1050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IN" sz="1050" dirty="0">
                <a:solidFill>
                  <a:srgbClr val="FFA657"/>
                </a:solidFill>
                <a:latin typeface="Consolas" panose="020B0609020204030204" pitchFamily="49" charset="0"/>
              </a:rPr>
              <a:t>examples</a:t>
            </a:r>
            <a:r>
              <a:rPr lang="en-IN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050" dirty="0">
                <a:solidFill>
                  <a:srgbClr val="C9D1D9"/>
                </a:solidFill>
                <a:latin typeface="Consolas" panose="020B0609020204030204" pitchFamily="49" charset="0"/>
              </a:rPr>
              <a:t>examples</a:t>
            </a:r>
            <a:r>
              <a:rPr lang="en-IN" sz="1050" dirty="0">
                <a:solidFill>
                  <a:srgbClr val="BBBEBF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050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en-IN" sz="1050" dirty="0">
                <a:solidFill>
                  <a:srgbClr val="FFA657"/>
                </a:solidFill>
                <a:latin typeface="Consolas" panose="020B0609020204030204" pitchFamily="49" charset="0"/>
              </a:rPr>
              <a:t>example_prompt</a:t>
            </a:r>
            <a:r>
              <a:rPr lang="en-IN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050" dirty="0">
                <a:solidFill>
                  <a:srgbClr val="C9D1D9"/>
                </a:solidFill>
                <a:latin typeface="Consolas" panose="020B0609020204030204" pitchFamily="49" charset="0"/>
              </a:rPr>
              <a:t>example_prompt</a:t>
            </a:r>
            <a:endParaRPr lang="en-IN" sz="1050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dirty="0">
                <a:solidFill>
                  <a:srgbClr val="BBBEBF"/>
                </a:solidFill>
                <a:latin typeface="Consolas" panose="020B0609020204030204" pitchFamily="49" charset="0"/>
              </a:rPr>
              <a:t>)</a:t>
            </a:r>
            <a:endParaRPr lang="en-IN" sz="1050" dirty="0">
              <a:solidFill>
                <a:srgbClr val="E2E8F0"/>
              </a:solidFill>
              <a:latin typeface="IBM Plex Mono" panose="020B0509050203000203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Main prompt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final_prompt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ChatPromptTemplate.from_messages([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(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"system"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"You are an SRE assistant. "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"Classify the incident and return only this format:</a:t>
            </a:r>
            <a:r>
              <a:rPr lang="en-IN" sz="105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"SEVERITY: &lt;Low|Medium|High&gt; | CATEGORY: &lt;type&gt; | ACTION: &lt;next step&gt;"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),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few_shot_prompt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"human"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{incident}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Chain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chain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final_prompt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StrOutputParser()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Test incidents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incidents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"Memory usage at 95</a:t>
            </a:r>
            <a:r>
              <a:rPr lang="en-IN" sz="105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% o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n prod database for the past 10 minutes."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 button label is misspelled on the settings page."</a:t>
            </a:r>
            <a:endParaRPr lang="en-IN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incident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incidents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chain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.invoke({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"incident"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incident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5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"Incident :"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incident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5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"Decision :"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5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IN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1050" b="0" i="0" dirty="0">
              <a:solidFill>
                <a:srgbClr val="E2E8F0"/>
              </a:solidFill>
              <a:effectLst/>
              <a:latin typeface="IBM Plex Mono" panose="020B05090502030002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015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62724-8B85-7539-0071-8563C73A3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3C26E-DA8D-A297-82FB-198F90FA4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411" y="288489"/>
            <a:ext cx="6327487" cy="417717"/>
          </a:xfrm>
        </p:spPr>
        <p:txBody>
          <a:bodyPr anchor="t">
            <a:noAutofit/>
          </a:bodyPr>
          <a:lstStyle/>
          <a:p>
            <a:r>
              <a:rPr lang="en-IN" sz="2400" b="1" dirty="0"/>
              <a:t>Retrieval</a:t>
            </a:r>
            <a:br>
              <a:rPr lang="en-IN" b="1" dirty="0"/>
            </a:br>
            <a:br>
              <a:rPr lang="en-IN" sz="3200" b="1" dirty="0"/>
            </a:br>
            <a:br>
              <a:rPr lang="en-US" sz="3200" b="1" dirty="0"/>
            </a:b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B1328F-DCFE-78F9-C0D4-C15CB03B6A8F}"/>
              </a:ext>
            </a:extLst>
          </p:cNvPr>
          <p:cNvSpPr txBox="1"/>
          <p:nvPr/>
        </p:nvSpPr>
        <p:spPr>
          <a:xfrm>
            <a:off x="408591" y="903459"/>
            <a:ext cx="1044025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Retrieval is the process of </a:t>
            </a:r>
            <a:r>
              <a:rPr lang="en-US" sz="2000" b="1" dirty="0"/>
              <a:t>finding the most relevant information </a:t>
            </a:r>
            <a:r>
              <a:rPr lang="en-US" sz="2000" dirty="0"/>
              <a:t>from your data before sending it to the LLM. Instead of asking the model to rely only on its built-in knowledge, you first fetch related content from </a:t>
            </a:r>
            <a:r>
              <a:rPr lang="en-US" sz="2000" b="1" dirty="0"/>
              <a:t>documents, PDFs, websites, databases, or other sources </a:t>
            </a:r>
            <a:r>
              <a:rPr lang="en-US" sz="2000" dirty="0"/>
              <a:t>and then provide that context to the model.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This is the core foundation of </a:t>
            </a:r>
            <a:r>
              <a:rPr lang="en-US" sz="2000" b="1" dirty="0"/>
              <a:t>RAG (Retrieval-Augmented Generation)</a:t>
            </a:r>
            <a:r>
              <a:rPr lang="en-US" sz="2000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A typical retrieval pipeline follows these steps: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Load → Split → Embed → Store → Retrieve</a:t>
            </a:r>
            <a:endParaRPr lang="en-US" sz="2000" dirty="0"/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b="1" dirty="0"/>
              <a:t>Load</a:t>
            </a:r>
            <a:r>
              <a:rPr lang="en-US" sz="2000" dirty="0"/>
              <a:t>: collect documents from files, PDFs, web pages, databases, or APIs 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b="1" dirty="0"/>
              <a:t>Split</a:t>
            </a:r>
            <a:r>
              <a:rPr lang="en-US" sz="2000" dirty="0"/>
              <a:t>: break large documents into smaller chunks so retrieval becomes more precise 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b="1" dirty="0"/>
              <a:t>Embed</a:t>
            </a:r>
            <a:r>
              <a:rPr lang="en-US" sz="2000" dirty="0"/>
              <a:t>: convert each chunk into vector form so meaning can be compared mathematically 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b="1" dirty="0"/>
              <a:t>Store</a:t>
            </a:r>
            <a:r>
              <a:rPr lang="en-US" sz="2000" dirty="0"/>
              <a:t>: save those vectors in a vector database such as Qdrant, FAISS, or Chroma 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b="1" dirty="0"/>
              <a:t>Retrieve</a:t>
            </a:r>
            <a:r>
              <a:rPr lang="en-US" sz="2000" dirty="0"/>
              <a:t>: when a user asks a question, find the chunks whose meaning is closest to the query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In simple terms, retrieval helps the LLM get the </a:t>
            </a:r>
            <a:r>
              <a:rPr lang="en-US" sz="2000" b="1" dirty="0"/>
              <a:t>right context at the right time</a:t>
            </a:r>
            <a:r>
              <a:rPr lang="en-US" sz="2000" dirty="0"/>
              <a:t>, which improves answer accuracy and reduces hallucination.</a:t>
            </a:r>
          </a:p>
        </p:txBody>
      </p:sp>
    </p:spTree>
    <p:extLst>
      <p:ext uri="{BB962C8B-B14F-4D97-AF65-F5344CB8AC3E}">
        <p14:creationId xmlns:p14="http://schemas.microsoft.com/office/powerpoint/2010/main" val="2869542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73367-2EB0-1678-73F1-D9175B077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41FD6-7449-95EB-E799-7DCB4894E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90" y="273695"/>
            <a:ext cx="6327487" cy="417717"/>
          </a:xfrm>
        </p:spPr>
        <p:txBody>
          <a:bodyPr anchor="t">
            <a:noAutofit/>
          </a:bodyPr>
          <a:lstStyle/>
          <a:p>
            <a:r>
              <a:rPr lang="en-IN" sz="2400" b="1" dirty="0"/>
              <a:t>Document Loaders</a:t>
            </a:r>
            <a:br>
              <a:rPr lang="en-IN" b="1" dirty="0"/>
            </a:br>
            <a:br>
              <a:rPr lang="en-IN" sz="3200" b="1" dirty="0"/>
            </a:br>
            <a:br>
              <a:rPr lang="en-US" sz="3200" b="1" dirty="0"/>
            </a:b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9CDEB9-B0E1-8592-D7C8-F90200FD427C}"/>
              </a:ext>
            </a:extLst>
          </p:cNvPr>
          <p:cNvSpPr txBox="1"/>
          <p:nvPr/>
        </p:nvSpPr>
        <p:spPr>
          <a:xfrm>
            <a:off x="408590" y="944099"/>
            <a:ext cx="286039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Loaders bring data into LangChain and convert it into Document objects with: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page_content → actual text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metadata → source details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In this demo: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TextLoader</a:t>
            </a:r>
            <a:r>
              <a:rPr lang="en-IN" dirty="0"/>
              <a:t> loads a text file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CSVLoader</a:t>
            </a:r>
            <a:r>
              <a:rPr lang="en-IN" dirty="0"/>
              <a:t> loads CSV rows as documents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WebBaseLoader</a:t>
            </a:r>
            <a:r>
              <a:rPr lang="en-IN" dirty="0"/>
              <a:t> loads content from a web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D7031F-5FA3-A6CB-E74F-0B8085DAF6CF}"/>
              </a:ext>
            </a:extLst>
          </p:cNvPr>
          <p:cNvSpPr txBox="1"/>
          <p:nvPr/>
        </p:nvSpPr>
        <p:spPr>
          <a:xfrm>
            <a:off x="3382144" y="1321507"/>
            <a:ext cx="4502016" cy="494109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langchain_community.document_loaders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TextLoader, CSVLoader, WebBaseLoader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-----------------------------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1. Load text file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-----------------------------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text_docs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TextLoader(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"notes.txt"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).load()</a:t>
            </a:r>
          </a:p>
          <a:p>
            <a:pPr>
              <a:lnSpc>
                <a:spcPts val="1425"/>
              </a:lnSpc>
              <a:buNone/>
            </a:pP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"=== TEXT LOADER ==="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"Content preview:"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text_docs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].page_content[: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"Metadata:"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text_docs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].metadata)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-----------------------------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2. Load CSV file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-----------------------------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csv_docs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CSVLoader(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"data.csv"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).load()</a:t>
            </a:r>
          </a:p>
          <a:p>
            <a:pPr>
              <a:lnSpc>
                <a:spcPts val="1425"/>
              </a:lnSpc>
              <a:buNone/>
            </a:pP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"=== CSV LOADER ==="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"Total rows loaded:"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csv_docs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"First row content:"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csv_docs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].page_content)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"First row metadata:"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csv_docs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].metadata)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257B6A-0EA9-4917-B949-75837595B7BE}"/>
              </a:ext>
            </a:extLst>
          </p:cNvPr>
          <p:cNvSpPr txBox="1"/>
          <p:nvPr/>
        </p:nvSpPr>
        <p:spPr>
          <a:xfrm>
            <a:off x="3363619" y="944099"/>
            <a:ext cx="3372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dirty="0">
                <a:solidFill>
                  <a:schemeClr val="accent6"/>
                </a:solidFill>
                <a:effectLst/>
                <a:latin typeface="IBM Plex Mono" panose="020B0509050203000203" pitchFamily="49" charset="0"/>
              </a:rPr>
              <a:t>05_document_loaders.py</a:t>
            </a:r>
            <a:endParaRPr lang="en-IN" sz="1400" dirty="0">
              <a:solidFill>
                <a:schemeClr val="accent6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3C3579-0EB1-C897-FBFD-F3929CEC3863}"/>
              </a:ext>
            </a:extLst>
          </p:cNvPr>
          <p:cNvSpPr txBox="1"/>
          <p:nvPr/>
        </p:nvSpPr>
        <p:spPr>
          <a:xfrm>
            <a:off x="7946524" y="1321507"/>
            <a:ext cx="4113396" cy="26071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-----------------------------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3. Load web page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-----------------------------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web_docs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WebBaseLoader(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"https://python.langchain.com/docs/introduction/"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).load()</a:t>
            </a:r>
          </a:p>
          <a:p>
            <a:pPr>
              <a:lnSpc>
                <a:spcPts val="1425"/>
              </a:lnSpc>
              <a:buNone/>
            </a:pP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"=== WEB LOADER ==="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"Web content preview:"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web_docs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].page_content[: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"Metadata:"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web_docs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].metadata)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91188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ED3F8-F91D-86FE-5CD3-173586D71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9605D-EADA-B5F5-0775-5C6D53CEF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61" y="137746"/>
            <a:ext cx="6001120" cy="417717"/>
          </a:xfrm>
        </p:spPr>
        <p:txBody>
          <a:bodyPr anchor="t">
            <a:noAutofit/>
          </a:bodyPr>
          <a:lstStyle/>
          <a:p>
            <a:r>
              <a:rPr lang="en-IN" sz="2400" b="1" dirty="0"/>
              <a:t>Text Splitters</a:t>
            </a:r>
            <a:br>
              <a:rPr lang="en-IN" b="1" dirty="0"/>
            </a:br>
            <a:br>
              <a:rPr lang="en-IN" sz="3200" b="1" dirty="0"/>
            </a:br>
            <a:br>
              <a:rPr lang="en-US" sz="3200" b="1" dirty="0"/>
            </a:b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9C3A9A-EFF8-6FA1-9B2A-FBCAB0D1C280}"/>
              </a:ext>
            </a:extLst>
          </p:cNvPr>
          <p:cNvSpPr txBox="1"/>
          <p:nvPr/>
        </p:nvSpPr>
        <p:spPr>
          <a:xfrm>
            <a:off x="226960" y="691533"/>
            <a:ext cx="29328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LLMs cannot handle very large text at once</a:t>
            </a:r>
            <a:r>
              <a:rPr lang="en-US" dirty="0"/>
              <a:t>, so long documents are split into smaller chunks before processing. </a:t>
            </a:r>
            <a:r>
              <a:rPr lang="en-US" b="1" dirty="0"/>
              <a:t>Chunking also helps vector databases store and retrieve relevant pieces more accurately.</a:t>
            </a:r>
            <a:r>
              <a:rPr lang="en-US" dirty="0"/>
              <a:t> To avoid losing meaning between chunks, a </a:t>
            </a:r>
            <a:r>
              <a:rPr lang="en-US" b="1" dirty="0"/>
              <a:t>small overlap </a:t>
            </a:r>
            <a:r>
              <a:rPr lang="en-US" dirty="0"/>
              <a:t>is usually kept.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The most commonly used splitter is </a:t>
            </a:r>
            <a:r>
              <a:rPr lang="en-US" b="1" dirty="0"/>
              <a:t>RecursiveCharacterTextSplitter</a:t>
            </a:r>
            <a:r>
              <a:rPr lang="en-US" dirty="0"/>
              <a:t>, which breaks text into manageable chunks while trying to preserve natural boundaries.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453C9D-6B30-5898-D1D6-B15775B21E7B}"/>
              </a:ext>
            </a:extLst>
          </p:cNvPr>
          <p:cNvSpPr txBox="1"/>
          <p:nvPr/>
        </p:nvSpPr>
        <p:spPr>
          <a:xfrm>
            <a:off x="3227521" y="837161"/>
            <a:ext cx="8839200" cy="583877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langchain_text_splitters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RecursiveCharacterTextSplitter, TokenTextSplitter</a:t>
            </a:r>
            <a:b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Sample long text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"LangChain helps split large text into smaller chunks for LLM processing. 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1. RecursiveCharacterTextSplitter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char_splitter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RecursiveCharacterTextSplitter(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chunk_size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120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chunk_overlap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char_chunks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char_splitter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.create_documents([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"=== CHARACTER SPLITTER ==="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"Total chunks:"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char_chunks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"First chunk:"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char_chunks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].page_content)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2. TokenTextSplitter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token_splitter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TokenTextSplitter(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chunk_size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chunk_overlap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token_chunks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token_splitter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.create_documents([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"=== TOKEN SPLITTER ==="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"Total chunks:"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token_chunks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"First chunk:"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token_chunks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].page_content)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1C4F83-9088-19FF-C808-6622A5C2AAD5}"/>
              </a:ext>
            </a:extLst>
          </p:cNvPr>
          <p:cNvSpPr txBox="1"/>
          <p:nvPr/>
        </p:nvSpPr>
        <p:spPr>
          <a:xfrm>
            <a:off x="8141362" y="401574"/>
            <a:ext cx="3372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dirty="0">
                <a:solidFill>
                  <a:schemeClr val="accent6"/>
                </a:solidFill>
                <a:effectLst/>
                <a:latin typeface="IBM Plex Mono" panose="020B0509050203000203" pitchFamily="49" charset="0"/>
              </a:rPr>
              <a:t>06_text_splitters.py</a:t>
            </a:r>
            <a:endParaRPr lang="en-IN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330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F5223-D46A-5A50-EE43-02AAF9850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6C470-AAB9-588A-49F2-958D2726D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92" y="194228"/>
            <a:ext cx="4336128" cy="417717"/>
          </a:xfrm>
        </p:spPr>
        <p:txBody>
          <a:bodyPr anchor="t">
            <a:noAutofit/>
          </a:bodyPr>
          <a:lstStyle/>
          <a:p>
            <a:r>
              <a:rPr lang="en-IN" sz="2400" b="1" dirty="0"/>
              <a:t>Embedding Models</a:t>
            </a:r>
            <a:br>
              <a:rPr lang="en-IN" b="1" dirty="0"/>
            </a:br>
            <a:br>
              <a:rPr lang="en-IN" sz="3200" b="1" dirty="0"/>
            </a:br>
            <a:br>
              <a:rPr lang="en-US" sz="3200" b="1" dirty="0"/>
            </a:b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94C886-9E72-E48A-F3CD-A9313E6F2C9B}"/>
              </a:ext>
            </a:extLst>
          </p:cNvPr>
          <p:cNvSpPr txBox="1"/>
          <p:nvPr/>
        </p:nvSpPr>
        <p:spPr>
          <a:xfrm>
            <a:off x="408592" y="715442"/>
            <a:ext cx="433612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Embeddings convert text into numeric vectors. Texts with similar meaning get similar vectors, which helps in </a:t>
            </a:r>
            <a:r>
              <a:rPr lang="en-US" b="1" dirty="0"/>
              <a:t>semantic search.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LangChain supports OpenAI, Cohere, HuggingFace, and many other embedding providers.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In this demo, embeddings are created using the local </a:t>
            </a:r>
            <a:r>
              <a:rPr lang="en-US" b="1" dirty="0"/>
              <a:t>SentenceTransformer model (all-MiniLM-L6-v2) </a:t>
            </a:r>
            <a:r>
              <a:rPr lang="en-US" dirty="0"/>
              <a:t>instead of a cloud provider.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A1822D-22DA-D03F-4423-522F7A5EF634}"/>
              </a:ext>
            </a:extLst>
          </p:cNvPr>
          <p:cNvSpPr txBox="1"/>
          <p:nvPr/>
        </p:nvSpPr>
        <p:spPr>
          <a:xfrm>
            <a:off x="4971247" y="719684"/>
            <a:ext cx="7004382" cy="601831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numpy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sentence_transformers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SentenceTransformer</a:t>
            </a:r>
          </a:p>
          <a:p>
            <a:pPr>
              <a:lnSpc>
                <a:spcPts val="1425"/>
              </a:lnSpc>
              <a:buNone/>
            </a:pP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Load local embedding model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SentenceTransformer(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"all-MiniLM-L6-v2"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"LangChain is a framework for building LLM applications."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"Vector databases store embeddings for semantic search."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"Paris is the capital of France."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"What is LangChain?"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Create embeddings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doc_vectors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.encode(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query_vector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.encode(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"Vector dimension:"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doc_vectors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Cosine similarity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cosine_similarity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.array(</a:t>
            </a:r>
            <a:r>
              <a:rPr lang="en-IN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.array(</a:t>
            </a:r>
            <a:r>
              <a:rPr lang="en-IN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.dot(</a:t>
            </a:r>
            <a:r>
              <a:rPr lang="en-IN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.linalg.norm(</a:t>
            </a:r>
            <a:r>
              <a:rPr lang="en-IN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.linalg.norm(</a:t>
            </a:r>
            <a:r>
              <a:rPr lang="en-IN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"Query:"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Similarity scores:"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zip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doc_vectors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cosine_similarity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query_vector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IN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:.3f}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 -&gt;  </a:t>
            </a:r>
            <a:r>
              <a:rPr lang="en-IN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IN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A7CE7E-D921-31E0-D7D3-E8D74CF6E14C}"/>
              </a:ext>
            </a:extLst>
          </p:cNvPr>
          <p:cNvSpPr txBox="1"/>
          <p:nvPr/>
        </p:nvSpPr>
        <p:spPr>
          <a:xfrm>
            <a:off x="4888406" y="304168"/>
            <a:ext cx="3372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dirty="0">
                <a:solidFill>
                  <a:schemeClr val="accent6"/>
                </a:solidFill>
                <a:effectLst/>
                <a:latin typeface="IBM Plex Mono" panose="020B0509050203000203" pitchFamily="49" charset="0"/>
              </a:rPr>
              <a:t>07_embeddings.py</a:t>
            </a:r>
            <a:endParaRPr lang="en-IN" sz="1400" dirty="0">
              <a:solidFill>
                <a:schemeClr val="accent6"/>
              </a:solidFill>
            </a:endParaRP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1295C4B1-F389-8F41-5087-4929E9D4C682}"/>
              </a:ext>
            </a:extLst>
          </p:cNvPr>
          <p:cNvSpPr/>
          <p:nvPr/>
        </p:nvSpPr>
        <p:spPr>
          <a:xfrm>
            <a:off x="8886647" y="2443442"/>
            <a:ext cx="2695753" cy="851446"/>
          </a:xfrm>
          <a:prstGeom prst="wedgeRectCallout">
            <a:avLst>
              <a:gd name="adj1" fmla="val -71482"/>
              <a:gd name="adj2" fmla="val 69021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/>
              <a:t>[</a:t>
            </a:r>
            <a:br>
              <a:rPr lang="en-US" sz="1000" dirty="0"/>
            </a:br>
            <a:r>
              <a:rPr lang="en-US" sz="1000" dirty="0"/>
              <a:t>    [0.21, -0.44, 0.17, ...], # vector for first text</a:t>
            </a:r>
            <a:br>
              <a:rPr lang="en-US" sz="1000" dirty="0"/>
            </a:br>
            <a:r>
              <a:rPr lang="en-US" sz="1000" dirty="0"/>
              <a:t>    [0.09, 0.51, -0.22, ...], # vector for second text</a:t>
            </a:r>
            <a:br>
              <a:rPr lang="en-US" sz="1000" dirty="0"/>
            </a:br>
            <a:r>
              <a:rPr lang="en-US" sz="1000" dirty="0"/>
              <a:t>    [0.77, -0.10, 0.03, ...] # vector for third text</a:t>
            </a:r>
            <a:br>
              <a:rPr lang="en-US" sz="1000" dirty="0"/>
            </a:br>
            <a:r>
              <a:rPr lang="en-US" sz="1000" dirty="0"/>
              <a:t>]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22B8F98F-4F0F-2C12-B712-E5CB778EDB8F}"/>
              </a:ext>
            </a:extLst>
          </p:cNvPr>
          <p:cNvSpPr/>
          <p:nvPr/>
        </p:nvSpPr>
        <p:spPr>
          <a:xfrm>
            <a:off x="8886647" y="3358978"/>
            <a:ext cx="1574089" cy="369863"/>
          </a:xfrm>
          <a:prstGeom prst="wedgeRectCallout">
            <a:avLst>
              <a:gd name="adj1" fmla="val -81164"/>
              <a:gd name="adj2" fmla="val 41002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000" dirty="0"/>
              <a:t>[0.20, -0.40, 0.11, ...]</a:t>
            </a:r>
            <a:endParaRPr lang="en-US" sz="1000" dirty="0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F1A959B1-525F-AAFA-E3C3-1464D64D699E}"/>
              </a:ext>
            </a:extLst>
          </p:cNvPr>
          <p:cNvSpPr/>
          <p:nvPr/>
        </p:nvSpPr>
        <p:spPr>
          <a:xfrm>
            <a:off x="10234523" y="3925906"/>
            <a:ext cx="1574089" cy="369863"/>
          </a:xfrm>
          <a:prstGeom prst="wedgeRectCallout">
            <a:avLst>
              <a:gd name="adj1" fmla="val -81164"/>
              <a:gd name="adj2" fmla="val 41002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/>
              <a:t>all-MiniLM-L6-v2, this is usually 384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EF299039-4D2D-684E-D017-BD16B54CD549}"/>
              </a:ext>
            </a:extLst>
          </p:cNvPr>
          <p:cNvSpPr/>
          <p:nvPr/>
        </p:nvSpPr>
        <p:spPr>
          <a:xfrm>
            <a:off x="1580554" y="4023359"/>
            <a:ext cx="1992204" cy="1749687"/>
          </a:xfrm>
          <a:prstGeom prst="wedgeRectCallout">
            <a:avLst>
              <a:gd name="adj1" fmla="val 119058"/>
              <a:gd name="adj2" fmla="val 9194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000" b="1" dirty="0"/>
              <a:t>a = </a:t>
            </a:r>
            <a:r>
              <a:rPr lang="en-IN" sz="1000" b="1" dirty="0" err="1"/>
              <a:t>np.array</a:t>
            </a:r>
            <a:r>
              <a:rPr lang="en-IN" sz="1000" b="1" dirty="0"/>
              <a:t>(a)</a:t>
            </a:r>
          </a:p>
          <a:p>
            <a:r>
              <a:rPr lang="en-IN" sz="1000" dirty="0"/>
              <a:t>Converts a into a NumPy array.</a:t>
            </a:r>
          </a:p>
          <a:p>
            <a:r>
              <a:rPr lang="en-IN" sz="1000" b="1" dirty="0"/>
              <a:t>b = </a:t>
            </a:r>
            <a:r>
              <a:rPr lang="en-IN" sz="1000" b="1" dirty="0" err="1"/>
              <a:t>np.array</a:t>
            </a:r>
            <a:r>
              <a:rPr lang="en-IN" sz="1000" b="1" dirty="0"/>
              <a:t>(b)</a:t>
            </a:r>
          </a:p>
          <a:p>
            <a:r>
              <a:rPr lang="en-IN" sz="1000" dirty="0"/>
              <a:t>Converts b into a NumPy array.</a:t>
            </a:r>
          </a:p>
          <a:p>
            <a:r>
              <a:rPr lang="en-IN" sz="1000" b="1" dirty="0"/>
              <a:t>np.dot(a, b)</a:t>
            </a:r>
          </a:p>
          <a:p>
            <a:endParaRPr lang="en-IN" sz="1000" b="1" dirty="0"/>
          </a:p>
          <a:p>
            <a:r>
              <a:rPr lang="en-IN" sz="1000" dirty="0"/>
              <a:t>Dot product of the two vectors.</a:t>
            </a:r>
          </a:p>
          <a:p>
            <a:r>
              <a:rPr lang="en-IN" sz="1000" b="1" dirty="0" err="1"/>
              <a:t>np.linalg.norm</a:t>
            </a:r>
            <a:r>
              <a:rPr lang="en-IN" sz="1000" b="1" dirty="0"/>
              <a:t>(a)</a:t>
            </a:r>
          </a:p>
          <a:p>
            <a:r>
              <a:rPr lang="en-IN" sz="1000" dirty="0"/>
              <a:t>Length of vector a</a:t>
            </a:r>
          </a:p>
          <a:p>
            <a:r>
              <a:rPr lang="en-IN" sz="1000" b="1" dirty="0" err="1"/>
              <a:t>np.linalg.norm</a:t>
            </a:r>
            <a:r>
              <a:rPr lang="en-IN" sz="1000" b="1" dirty="0"/>
              <a:t>(b)</a:t>
            </a:r>
          </a:p>
          <a:p>
            <a:r>
              <a:rPr lang="en-IN" sz="1000" dirty="0"/>
              <a:t>Length of vector b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2097527A-50B8-54A6-0026-BF7ED4E7073C}"/>
              </a:ext>
            </a:extLst>
          </p:cNvPr>
          <p:cNvSpPr/>
          <p:nvPr/>
        </p:nvSpPr>
        <p:spPr>
          <a:xfrm>
            <a:off x="1084678" y="6067354"/>
            <a:ext cx="2983955" cy="510230"/>
          </a:xfrm>
          <a:prstGeom prst="wedgeRectCallout">
            <a:avLst>
              <a:gd name="adj1" fmla="val 94815"/>
              <a:gd name="adj2" fmla="val -153404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000" b="1" dirty="0"/>
              <a:t>np.dot(a, b) / (</a:t>
            </a:r>
            <a:r>
              <a:rPr lang="en-IN" sz="1000" b="1" dirty="0" err="1"/>
              <a:t>np.linalg.norm</a:t>
            </a:r>
            <a:r>
              <a:rPr lang="en-IN" sz="1000" b="1" dirty="0"/>
              <a:t>(a) * </a:t>
            </a:r>
            <a:r>
              <a:rPr lang="en-IN" sz="1000" b="1" dirty="0" err="1"/>
              <a:t>np.linalg.norm</a:t>
            </a:r>
            <a:r>
              <a:rPr lang="en-IN" sz="1000" b="1" dirty="0"/>
              <a:t>(b))</a:t>
            </a:r>
          </a:p>
          <a:p>
            <a:r>
              <a:rPr lang="en-US" sz="1000" b="1" dirty="0"/>
              <a:t>This is the cosine similarity formula.</a:t>
            </a:r>
          </a:p>
        </p:txBody>
      </p:sp>
    </p:spTree>
    <p:extLst>
      <p:ext uri="{BB962C8B-B14F-4D97-AF65-F5344CB8AC3E}">
        <p14:creationId xmlns:p14="http://schemas.microsoft.com/office/powerpoint/2010/main" val="2247434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3188A-146C-41C2-EC3C-F9FC4A8ED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EE56F-CC20-084F-415F-452D972A4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91" y="205965"/>
            <a:ext cx="4854289" cy="417717"/>
          </a:xfrm>
        </p:spPr>
        <p:txBody>
          <a:bodyPr anchor="t">
            <a:noAutofit/>
          </a:bodyPr>
          <a:lstStyle/>
          <a:p>
            <a:r>
              <a:rPr lang="en-IN" sz="2400" b="1" dirty="0"/>
              <a:t>Retrievers</a:t>
            </a:r>
            <a:br>
              <a:rPr lang="en-IN" b="1" dirty="0"/>
            </a:br>
            <a:br>
              <a:rPr lang="en-IN" sz="3200" b="1" dirty="0"/>
            </a:br>
            <a:br>
              <a:rPr lang="en-US" sz="3200" b="1" dirty="0"/>
            </a:b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AFC5C-2FC9-79C5-1882-B87B5E1D21AC}"/>
              </a:ext>
            </a:extLst>
          </p:cNvPr>
          <p:cNvSpPr txBox="1"/>
          <p:nvPr/>
        </p:nvSpPr>
        <p:spPr>
          <a:xfrm>
            <a:off x="408591" y="866812"/>
            <a:ext cx="278040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This demo uses a local embedding model to </a:t>
            </a:r>
            <a:r>
              <a:rPr lang="en-US" sz="1600" b="1" dirty="0"/>
              <a:t>convert text into vectors and stores them in FAISS.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When the user asks a query, the same model </a:t>
            </a:r>
            <a:r>
              <a:rPr lang="en-US" sz="1600" b="1" dirty="0"/>
              <a:t>converts the query into a vector.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FAISS then finds the text chunks that are closest in meaning to that query.</a:t>
            </a:r>
            <a:br>
              <a:rPr lang="en-US" sz="1600" dirty="0"/>
            </a:b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This is the basic retrieval step used in semantic search and RAG.</a:t>
            </a:r>
            <a:endParaRPr lang="en-US" sz="1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1D2F18-697F-EE03-DEE0-1BD165EB423C}"/>
              </a:ext>
            </a:extLst>
          </p:cNvPr>
          <p:cNvSpPr txBox="1"/>
          <p:nvPr/>
        </p:nvSpPr>
        <p:spPr>
          <a:xfrm>
            <a:off x="3385740" y="1173612"/>
            <a:ext cx="8550228" cy="565795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langchain_huggingface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HuggingFaceEmbeddings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langchain_community.vectorstores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FAISS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Local embedding model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embeddings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HuggingFaceEmbeddings(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model_name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"sentence-transformers/all-MiniLM-L6-v2"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Sample texts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texts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"LangChain provides modular components for LLM applications."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"RAG combines retrieval with generation to produce grounded answers."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"FAISS is a vector store used for semantic search."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"Agents can use tools to complete tasks automatically."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Create FAISS vector store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vector_store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FAISS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.from_texts(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texts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embeddings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Query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"What is RAG?"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vector_store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.similarity_search(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"=== FAISS RETRIEVER DEMO ==="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"Query:"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"Top matching texts:"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doc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enumerate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   #</a:t>
            </a:r>
            <a:r>
              <a:rPr lang="en-US" sz="1200" dirty="0">
                <a:solidFill>
                  <a:srgbClr val="BBBEBF"/>
                </a:solidFill>
                <a:latin typeface="Consolas" panose="020B0609020204030204" pitchFamily="49" charset="0"/>
              </a:rPr>
              <a:t>loop through results and also keep a count starting from 1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en-IN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doc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.page_content</a:t>
            </a:r>
            <a:r>
              <a:rPr lang="en-IN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3E3F62-08F8-F6EB-8F31-ADA1FE7C1C10}"/>
              </a:ext>
            </a:extLst>
          </p:cNvPr>
          <p:cNvSpPr txBox="1"/>
          <p:nvPr/>
        </p:nvSpPr>
        <p:spPr>
          <a:xfrm>
            <a:off x="3576651" y="766016"/>
            <a:ext cx="3372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dirty="0">
                <a:solidFill>
                  <a:schemeClr val="accent6"/>
                </a:solidFill>
                <a:effectLst/>
                <a:latin typeface="IBM Plex Mono" panose="020B0509050203000203" pitchFamily="49" charset="0"/>
              </a:rPr>
              <a:t>08_retrievers.py</a:t>
            </a:r>
            <a:endParaRPr lang="en-IN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8591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65938-FA61-79A3-A17D-DCB32B6EE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F63BB-88DF-F98F-AF2B-16052AE4F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91" y="194228"/>
            <a:ext cx="6327487" cy="417717"/>
          </a:xfrm>
        </p:spPr>
        <p:txBody>
          <a:bodyPr anchor="t">
            <a:noAutofit/>
          </a:bodyPr>
          <a:lstStyle/>
          <a:p>
            <a:r>
              <a:rPr lang="en-IN" sz="2400" b="1" dirty="0"/>
              <a:t>Chains</a:t>
            </a:r>
            <a:br>
              <a:rPr lang="en-IN" b="1" dirty="0"/>
            </a:br>
            <a:br>
              <a:rPr lang="en-IN" sz="3200" b="1" dirty="0"/>
            </a:br>
            <a:br>
              <a:rPr lang="en-US" sz="3200" b="1" dirty="0"/>
            </a:b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4B5F2-E11D-4ECD-78C6-4CFFAFDF36C5}"/>
              </a:ext>
            </a:extLst>
          </p:cNvPr>
          <p:cNvSpPr txBox="1"/>
          <p:nvPr/>
        </p:nvSpPr>
        <p:spPr>
          <a:xfrm>
            <a:off x="408591" y="752855"/>
            <a:ext cx="1104609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Chains are used to connect multiple steps together into one complete workflow.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Instead of calling each part manually, you link them so the output of one step becomes the input of the next step.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A chain can combine things like: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/>
              <a:t>a </a:t>
            </a:r>
            <a:r>
              <a:rPr lang="en-US" sz="2000" b="1" dirty="0"/>
              <a:t>prompt</a:t>
            </a:r>
            <a:r>
              <a:rPr lang="en-US" sz="2000" dirty="0"/>
              <a:t> to tell the model what to do 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/>
              <a:t>an </a:t>
            </a:r>
            <a:r>
              <a:rPr lang="en-US" sz="2000" b="1" dirty="0"/>
              <a:t>LLM</a:t>
            </a:r>
            <a:r>
              <a:rPr lang="en-US" sz="2000" dirty="0"/>
              <a:t> to generate the response 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/>
              <a:t>a </a:t>
            </a:r>
            <a:r>
              <a:rPr lang="en-US" sz="2000" b="1" dirty="0"/>
              <a:t>retriever</a:t>
            </a:r>
            <a:r>
              <a:rPr lang="en-US" sz="2000" dirty="0"/>
              <a:t> to fetch relevant information 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/>
              <a:t>an </a:t>
            </a:r>
            <a:r>
              <a:rPr lang="en-US" sz="2000" b="1" dirty="0"/>
              <a:t>output parser</a:t>
            </a:r>
            <a:r>
              <a:rPr lang="en-US" sz="2000" dirty="0"/>
              <a:t> to format or clean the result 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/>
              <a:t>other processing steps such as transformation or filtering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In simple terms, a chain helps you build an </a:t>
            </a:r>
            <a:r>
              <a:rPr lang="en-US" sz="2000" b="1" dirty="0"/>
              <a:t>end-to-end pipeline</a:t>
            </a:r>
            <a:r>
              <a:rPr lang="en-US" sz="2000" dirty="0"/>
              <a:t> for an AI task.</a:t>
            </a:r>
          </a:p>
        </p:txBody>
      </p:sp>
    </p:spTree>
    <p:extLst>
      <p:ext uri="{BB962C8B-B14F-4D97-AF65-F5344CB8AC3E}">
        <p14:creationId xmlns:p14="http://schemas.microsoft.com/office/powerpoint/2010/main" val="109946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ECBC7-EB02-DE7E-B80B-67E4BF8F6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882D2-E76E-3029-3404-6FB05BF86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91" y="156128"/>
            <a:ext cx="6327487" cy="417717"/>
          </a:xfrm>
        </p:spPr>
        <p:txBody>
          <a:bodyPr anchor="t">
            <a:noAutofit/>
          </a:bodyPr>
          <a:lstStyle/>
          <a:p>
            <a:r>
              <a:rPr lang="en-IN" sz="2400" b="1" dirty="0"/>
              <a:t>LCEL — LangChain Expression Language</a:t>
            </a:r>
            <a:br>
              <a:rPr lang="en-IN" b="1" dirty="0"/>
            </a:br>
            <a:br>
              <a:rPr lang="en-IN" sz="3200" b="1" dirty="0"/>
            </a:br>
            <a:br>
              <a:rPr lang="en-US" sz="3200" b="1" dirty="0"/>
            </a:b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592F11-1AD2-3364-C743-068235993BD7}"/>
              </a:ext>
            </a:extLst>
          </p:cNvPr>
          <p:cNvSpPr txBox="1"/>
          <p:nvPr/>
        </p:nvSpPr>
        <p:spPr>
          <a:xfrm>
            <a:off x="408590" y="589493"/>
            <a:ext cx="112957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This example shows how LangChain chains </a:t>
            </a:r>
            <a:r>
              <a:rPr lang="en-US" b="1" dirty="0"/>
              <a:t>connect a prompt, local LLM, and parser </a:t>
            </a:r>
            <a:r>
              <a:rPr lang="en-US" dirty="0"/>
              <a:t>into one simple workflow.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The same chain can run once, on multiple inputs, or in streaming mode.</a:t>
            </a:r>
            <a:br>
              <a:rPr lang="en-US" dirty="0"/>
            </a:br>
            <a:r>
              <a:rPr lang="en-US" dirty="0"/>
              <a:t>This makes LLM applications </a:t>
            </a:r>
            <a:r>
              <a:rPr lang="en-US" b="1" dirty="0"/>
              <a:t>more modular and reusable.</a:t>
            </a:r>
            <a:endParaRPr lang="en-US" sz="1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57FCB3-6036-8A46-DE2E-7DBD22BD27B9}"/>
              </a:ext>
            </a:extLst>
          </p:cNvPr>
          <p:cNvSpPr txBox="1"/>
          <p:nvPr/>
        </p:nvSpPr>
        <p:spPr>
          <a:xfrm>
            <a:off x="408591" y="1825652"/>
            <a:ext cx="5823313" cy="493981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langchain_openai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ChatOpenAI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langchain_core.prompts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ChatPromptTemplate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langchain_core.output_parsers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StrOutputParser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Local LLM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ChatOpenAI(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"meta-llama-3.1-8b-instruct"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base_url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"http://192.168.224.1:1234/v1"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api_key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"lm-studio"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parser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StrOutputParser()</a:t>
            </a:r>
          </a:p>
          <a:p>
            <a:pPr>
              <a:lnSpc>
                <a:spcPts val="1425"/>
              </a:lnSpc>
              <a:buNone/>
            </a:pP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1. Simple chain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chain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ChatPromptTemplate.from_template(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"Translate the following text to French. Return only the translated text.</a:t>
            </a:r>
            <a:r>
              <a:rPr lang="en-IN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\n\n</a:t>
            </a:r>
            <a:r>
              <a:rPr lang="en-IN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{text}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llm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parser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"=== SINGLE INVOKE ==="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chain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.invoke({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"LangChain makes AI apps easy."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}))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30639B-3CB8-F2FF-D144-885CC24C8F38}"/>
              </a:ext>
            </a:extLst>
          </p:cNvPr>
          <p:cNvSpPr txBox="1"/>
          <p:nvPr/>
        </p:nvSpPr>
        <p:spPr>
          <a:xfrm>
            <a:off x="7464935" y="1517875"/>
            <a:ext cx="3372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dirty="0">
                <a:solidFill>
                  <a:schemeClr val="accent6"/>
                </a:solidFill>
                <a:effectLst/>
                <a:latin typeface="IBM Plex Mono" panose="020B0509050203000203" pitchFamily="49" charset="0"/>
              </a:rPr>
              <a:t>09_lcel.py</a:t>
            </a:r>
            <a:endParaRPr lang="en-IN" sz="1400" dirty="0">
              <a:solidFill>
                <a:schemeClr val="accent6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E46032-3429-5BA9-FF4E-73E0FE5A84A3}"/>
              </a:ext>
            </a:extLst>
          </p:cNvPr>
          <p:cNvSpPr txBox="1"/>
          <p:nvPr/>
        </p:nvSpPr>
        <p:spPr>
          <a:xfrm>
            <a:off x="6311898" y="1825652"/>
            <a:ext cx="5678533" cy="493981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2. Batch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"=== BATCH ==="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chain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.batch([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"Goodbye"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3. Stream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"=== STREAM ==="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chunk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chain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.stream({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"Streaming is powerful."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}):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chunk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4. Paragraph chain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paragraph_chain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ChatPromptTemplate.from_template(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"Write a short paragraph in 4 lines about </a:t>
            </a:r>
            <a:r>
              <a:rPr lang="en-IN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{topic}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. Return only the paragraph."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llm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parser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"=== PARAGRAPH CHAIN ==="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paragraph_chain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.invoke({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"topic"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"AI agents"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}))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9C827F09-0023-E6B1-21CC-A795BE132092}"/>
              </a:ext>
            </a:extLst>
          </p:cNvPr>
          <p:cNvSpPr/>
          <p:nvPr/>
        </p:nvSpPr>
        <p:spPr>
          <a:xfrm>
            <a:off x="9368891" y="3249168"/>
            <a:ext cx="2469541" cy="549695"/>
          </a:xfrm>
          <a:prstGeom prst="wedgeRectCallout">
            <a:avLst>
              <a:gd name="adj1" fmla="val -89557"/>
              <a:gd name="adj2" fmla="val 83143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/>
              <a:t>Instead of waiting for the full final response, it prints the result </a:t>
            </a:r>
            <a:r>
              <a:rPr lang="en-US" sz="1000" b="1" dirty="0"/>
              <a:t>piece by piece</a:t>
            </a:r>
            <a:r>
              <a:rPr lang="en-US" sz="1000" dirty="0"/>
              <a:t> as it is generated.</a:t>
            </a:r>
          </a:p>
        </p:txBody>
      </p:sp>
    </p:spTree>
    <p:extLst>
      <p:ext uri="{BB962C8B-B14F-4D97-AF65-F5344CB8AC3E}">
        <p14:creationId xmlns:p14="http://schemas.microsoft.com/office/powerpoint/2010/main" val="2673667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BAF5C-04DA-3BC3-4C1C-89A420DB3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F8BAC-2C2C-60C7-B80D-E39CAD884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91" y="194228"/>
            <a:ext cx="6327487" cy="417717"/>
          </a:xfrm>
        </p:spPr>
        <p:txBody>
          <a:bodyPr anchor="t">
            <a:noAutofit/>
          </a:bodyPr>
          <a:lstStyle/>
          <a:p>
            <a:r>
              <a:rPr lang="en-IN" sz="2400" b="1" dirty="0"/>
              <a:t>Sequential Flow</a:t>
            </a:r>
            <a:br>
              <a:rPr lang="en-IN" b="1" dirty="0"/>
            </a:br>
            <a:br>
              <a:rPr lang="en-IN" sz="3200" b="1" dirty="0"/>
            </a:br>
            <a:br>
              <a:rPr lang="en-US" sz="3200" b="1" dirty="0"/>
            </a:b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6E236E-8832-DFA5-344B-25772BF15EAD}"/>
              </a:ext>
            </a:extLst>
          </p:cNvPr>
          <p:cNvSpPr txBox="1"/>
          <p:nvPr/>
        </p:nvSpPr>
        <p:spPr>
          <a:xfrm>
            <a:off x="408591" y="689144"/>
            <a:ext cx="110460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 sequential flow is a </a:t>
            </a:r>
            <a:r>
              <a:rPr lang="en-US" b="1" dirty="0"/>
              <a:t>multi-step pipeline </a:t>
            </a:r>
            <a:r>
              <a:rPr lang="en-US" dirty="0"/>
              <a:t>where the </a:t>
            </a:r>
            <a:r>
              <a:rPr lang="en-US" b="1" dirty="0"/>
              <a:t>output of one step is passed to the next </a:t>
            </a:r>
            <a:r>
              <a:rPr lang="en-US" dirty="0"/>
              <a:t>step.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This demo uses the modern LangChain runnable style (</a:t>
            </a:r>
            <a:r>
              <a:rPr lang="en-IN" b="1" dirty="0"/>
              <a:t>prompt | llm | parser</a:t>
            </a:r>
            <a:r>
              <a:rPr lang="en-IN" dirty="0"/>
              <a:t>)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D5D980-633C-9BF5-B43D-E7B9A1D7B0F5}"/>
              </a:ext>
            </a:extLst>
          </p:cNvPr>
          <p:cNvSpPr txBox="1"/>
          <p:nvPr/>
        </p:nvSpPr>
        <p:spPr>
          <a:xfrm>
            <a:off x="519065" y="1820077"/>
            <a:ext cx="5475333" cy="458074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langchain_openai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ChatOpenAI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langchain_core.prompts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PromptTemplate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langchain_core.output_parsers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StrOutputParser</a:t>
            </a:r>
          </a:p>
          <a:p>
            <a:pPr>
              <a:lnSpc>
                <a:spcPts val="1425"/>
              </a:lnSpc>
              <a:buNone/>
            </a:pPr>
            <a:b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Local LLM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ChatOpenAI(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"meta-llama-3.1-8b-instruct"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base_url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"http://192.168.224.1:1234/v1"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api_key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"lm-studio"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parser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StrOutputParser()</a:t>
            </a:r>
          </a:p>
          <a:p>
            <a:pPr>
              <a:lnSpc>
                <a:spcPts val="1425"/>
              </a:lnSpc>
              <a:buNone/>
            </a:pPr>
            <a:b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Step 1: generate product idea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step1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PromptTemplate.from_template(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"Suggest one simple AI product idea for </a:t>
            </a:r>
            <a:r>
              <a:rPr lang="en-IN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{industry}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. Return only one sentence."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llm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parser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DA5798-3FCD-C0AB-5CC3-B658F9E539C5}"/>
              </a:ext>
            </a:extLst>
          </p:cNvPr>
          <p:cNvSpPr txBox="1"/>
          <p:nvPr/>
        </p:nvSpPr>
        <p:spPr>
          <a:xfrm>
            <a:off x="519065" y="1423887"/>
            <a:ext cx="3372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dirty="0">
                <a:solidFill>
                  <a:schemeClr val="accent6"/>
                </a:solidFill>
                <a:effectLst/>
                <a:latin typeface="IBM Plex Mono" panose="020B0509050203000203" pitchFamily="49" charset="0"/>
              </a:rPr>
              <a:t>10_sequential_chain.py</a:t>
            </a:r>
            <a:endParaRPr lang="en-IN" sz="1400" dirty="0">
              <a:solidFill>
                <a:schemeClr val="accent6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9F3532-E6E3-E040-F000-AB3420F82886}"/>
              </a:ext>
            </a:extLst>
          </p:cNvPr>
          <p:cNvSpPr txBox="1"/>
          <p:nvPr/>
        </p:nvSpPr>
        <p:spPr>
          <a:xfrm>
            <a:off x="6096000" y="1820077"/>
            <a:ext cx="5801358" cy="40421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Step 2: generate short investor pitch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step2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PromptTemplate.from_template(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"Write a short 3-sentence investor pitch for this product idea:</a:t>
            </a:r>
            <a:r>
              <a:rPr lang="en-IN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\n\n</a:t>
            </a:r>
            <a:r>
              <a:rPr lang="en-IN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{idea}</a:t>
            </a:r>
            <a:r>
              <a:rPr lang="en-IN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\n\n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Return only the pitch."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llm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parser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Run sequentially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industry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"healthcare"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idea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step1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.invoke({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"industry"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industry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pitch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step2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.invoke({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"idea"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idea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425"/>
              </a:lnSpc>
              <a:buNone/>
            </a:pPr>
            <a:b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"=== PRODUCT IDEA ==="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idea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"=== INVESTOR PITCH ==="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pitch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793129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0B64D-0831-8B82-E2AF-0A750428B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308EB-BCBE-86A0-3F22-F4EA429D2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91" y="194228"/>
            <a:ext cx="6327487" cy="417717"/>
          </a:xfrm>
        </p:spPr>
        <p:txBody>
          <a:bodyPr anchor="t">
            <a:noAutofit/>
          </a:bodyPr>
          <a:lstStyle/>
          <a:p>
            <a:r>
              <a:rPr lang="en-IN" sz="2400" b="1" dirty="0"/>
              <a:t>Memory</a:t>
            </a:r>
            <a:br>
              <a:rPr lang="en-IN" b="1" dirty="0"/>
            </a:br>
            <a:br>
              <a:rPr lang="en-IN" sz="3200" b="1" dirty="0"/>
            </a:br>
            <a:br>
              <a:rPr lang="en-US" sz="3200" b="1" dirty="0"/>
            </a:b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9D1AC0-E67D-215B-CF8D-ECFDE9C8F646}"/>
              </a:ext>
            </a:extLst>
          </p:cNvPr>
          <p:cNvSpPr txBox="1"/>
          <p:nvPr/>
        </p:nvSpPr>
        <p:spPr>
          <a:xfrm>
            <a:off x="408591" y="717831"/>
            <a:ext cx="1137954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Memory helps chat applications </a:t>
            </a:r>
            <a:r>
              <a:rPr lang="en-US" b="1" dirty="0"/>
              <a:t>maintain context </a:t>
            </a:r>
            <a:r>
              <a:rPr lang="en-US" dirty="0"/>
              <a:t>across multiple interactions, so the </a:t>
            </a:r>
            <a:r>
              <a:rPr lang="en-US" b="1" dirty="0"/>
              <a:t>model can remember </a:t>
            </a:r>
            <a:r>
              <a:rPr lang="en-US" dirty="0"/>
              <a:t>earlier user inputs and respond more naturally in later turns.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By default, </a:t>
            </a:r>
            <a:r>
              <a:rPr lang="en-US" b="1" dirty="0"/>
              <a:t>each LLM call is stateless</a:t>
            </a:r>
            <a:r>
              <a:rPr lang="en-US" dirty="0"/>
              <a:t>. To create continuity, </a:t>
            </a:r>
            <a:r>
              <a:rPr lang="en-US" b="1" dirty="0"/>
              <a:t>previous messages or stored context </a:t>
            </a:r>
            <a:r>
              <a:rPr lang="en-US" dirty="0"/>
              <a:t>are passed back to the model in each new request.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In simple uasges, this can be done by maintaining </a:t>
            </a:r>
            <a:r>
              <a:rPr lang="en-US" b="1" dirty="0"/>
              <a:t>chat history </a:t>
            </a:r>
            <a:r>
              <a:rPr lang="en-US" dirty="0"/>
              <a:t>manually, while in production LangChain-based applications typically use </a:t>
            </a:r>
            <a:r>
              <a:rPr lang="en-US" b="1" dirty="0"/>
              <a:t>LangGraph short-term memory with persistent checkpointers and long-term memory stores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err="1"/>
              <a:t>LangChain</a:t>
            </a:r>
            <a:r>
              <a:rPr lang="en-US" dirty="0"/>
              <a:t> memory classes such as </a:t>
            </a:r>
            <a:r>
              <a:rPr lang="en-US" b="1" dirty="0" err="1"/>
              <a:t>ConversationBufferMemory</a:t>
            </a:r>
            <a:r>
              <a:rPr lang="en-US" dirty="0"/>
              <a:t> and </a:t>
            </a:r>
            <a:r>
              <a:rPr lang="en-US" b="1" dirty="0" err="1"/>
              <a:t>ConversationBufferWindowMemory</a:t>
            </a:r>
            <a:r>
              <a:rPr lang="en-US" dirty="0"/>
              <a:t> are now deprecated. </a:t>
            </a:r>
          </a:p>
        </p:txBody>
      </p:sp>
    </p:spTree>
    <p:extLst>
      <p:ext uri="{BB962C8B-B14F-4D97-AF65-F5344CB8AC3E}">
        <p14:creationId xmlns:p14="http://schemas.microsoft.com/office/powerpoint/2010/main" val="3485594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BBDC0-976D-A3D4-8738-60C3B5686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019F3-8B80-5EC0-2689-69CBBDE89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91" y="194228"/>
            <a:ext cx="6327487" cy="417717"/>
          </a:xfrm>
        </p:spPr>
        <p:txBody>
          <a:bodyPr anchor="t">
            <a:noAutofit/>
          </a:bodyPr>
          <a:lstStyle/>
          <a:p>
            <a:r>
              <a:rPr lang="en-IN" sz="2400" b="1" dirty="0"/>
              <a:t>Conversation Memory</a:t>
            </a:r>
            <a:br>
              <a:rPr lang="en-IN" b="1" dirty="0"/>
            </a:br>
            <a:br>
              <a:rPr lang="en-IN" sz="3200" b="1" dirty="0"/>
            </a:br>
            <a:br>
              <a:rPr lang="en-US" sz="3200" b="1" dirty="0"/>
            </a:b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03F208-99B7-734E-C48B-E93841D0C602}"/>
              </a:ext>
            </a:extLst>
          </p:cNvPr>
          <p:cNvSpPr txBox="1"/>
          <p:nvPr/>
        </p:nvSpPr>
        <p:spPr>
          <a:xfrm>
            <a:off x="408591" y="763551"/>
            <a:ext cx="3372458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dirty="0"/>
              <a:t>Conversation memory keeps a </a:t>
            </a:r>
            <a:r>
              <a:rPr lang="en-US" sz="1500" b="1" dirty="0"/>
              <a:t>chat stateful </a:t>
            </a:r>
            <a:r>
              <a:rPr lang="en-US" sz="1500" dirty="0"/>
              <a:t>by preserving previous messages.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dirty="0"/>
              <a:t>In this demo, memory is handled by storing all user and AI messages in a </a:t>
            </a:r>
            <a:r>
              <a:rPr lang="en-US" sz="1500" b="1" dirty="0"/>
              <a:t>history list </a:t>
            </a:r>
            <a:r>
              <a:rPr lang="en-US" sz="1500" dirty="0"/>
              <a:t>and </a:t>
            </a:r>
            <a:r>
              <a:rPr lang="en-US" sz="1500" b="1" dirty="0"/>
              <a:t>sending that history back to the model </a:t>
            </a:r>
            <a:r>
              <a:rPr lang="en-US" sz="1500" dirty="0"/>
              <a:t>on each turn.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dirty="0"/>
              <a:t>Because of this, the model can remember earlier details like the user’s name and role, and use that context in later responses.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dirty="0" err="1"/>
              <a:t>LangChain</a:t>
            </a:r>
            <a:r>
              <a:rPr lang="en-US" sz="1500" dirty="0"/>
              <a:t> memory classes such as </a:t>
            </a:r>
            <a:r>
              <a:rPr lang="en-US" sz="1500" b="1" dirty="0" err="1"/>
              <a:t>ConversationBufferMemory</a:t>
            </a:r>
            <a:r>
              <a:rPr lang="en-US" sz="1500" dirty="0"/>
              <a:t> and </a:t>
            </a:r>
            <a:r>
              <a:rPr lang="en-US" sz="1500" b="1" dirty="0" err="1"/>
              <a:t>ConversationBufferWindowMemory</a:t>
            </a:r>
            <a:r>
              <a:rPr lang="en-US" sz="1500" dirty="0"/>
              <a:t> are now deprecated.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dirty="0"/>
              <a:t>In production-grade applications, the preferred approach is to use </a:t>
            </a:r>
            <a:r>
              <a:rPr lang="en-US" sz="1500" b="1" dirty="0" err="1"/>
              <a:t>LangGraph</a:t>
            </a:r>
            <a:r>
              <a:rPr lang="en-US" sz="1500" b="1" dirty="0"/>
              <a:t> memory</a:t>
            </a:r>
            <a:r>
              <a:rPr lang="en-US" sz="1500" dirty="0"/>
              <a:t>, typically with </a:t>
            </a:r>
            <a:r>
              <a:rPr lang="en-US" sz="1500" b="1" dirty="0"/>
              <a:t>persistent </a:t>
            </a:r>
            <a:r>
              <a:rPr lang="en-US" sz="1500" b="1" dirty="0" err="1"/>
              <a:t>checkpointers</a:t>
            </a:r>
            <a:r>
              <a:rPr lang="en-US" sz="1500" b="1" dirty="0"/>
              <a:t> for short-term memory</a:t>
            </a:r>
            <a:r>
              <a:rPr lang="en-US" sz="1500" dirty="0"/>
              <a:t> and </a:t>
            </a:r>
            <a:r>
              <a:rPr lang="en-US" sz="1500" b="1" dirty="0"/>
              <a:t>store-based designs for long-term memory</a:t>
            </a:r>
            <a:r>
              <a:rPr lang="en-US" sz="15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97BFAD-33D3-5D35-9C36-B171FC889F64}"/>
              </a:ext>
            </a:extLst>
          </p:cNvPr>
          <p:cNvSpPr txBox="1"/>
          <p:nvPr/>
        </p:nvSpPr>
        <p:spPr>
          <a:xfrm>
            <a:off x="4177417" y="1141301"/>
            <a:ext cx="7552652" cy="512063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langchain_openai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ChatOpenAI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langchain_core.messages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HumanMessage, AIMessage, SystemMessage</a:t>
            </a:r>
          </a:p>
          <a:p>
            <a:pPr>
              <a:lnSpc>
                <a:spcPts val="1425"/>
              </a:lnSpc>
              <a:buNone/>
            </a:pP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ChatOpenAI(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"meta-llama-3.1-8b-instruct"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base_url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"http://192.168.224.1:1234/v1"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api_key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"lm-studio"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history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SystemMessage(</a:t>
            </a:r>
            <a:r>
              <a:rPr lang="en-IN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"You are a helpful assistant. Give short and direct answers."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turns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"My name is Mohan and I am a GenAI Architect."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"What role do I work in?"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"What skills does someone in my role need?"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turn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turns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history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(HumanMessage(</a:t>
            </a:r>
            <a:r>
              <a:rPr lang="en-IN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turn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.invoke(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history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history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(AIMessage(</a:t>
            </a:r>
            <a:r>
              <a:rPr lang="en-IN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.content))</a:t>
            </a:r>
          </a:p>
          <a:p>
            <a:pPr>
              <a:lnSpc>
                <a:spcPts val="1425"/>
              </a:lnSpc>
              <a:buNone/>
            </a:pPr>
            <a:b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"Human: </a:t>
            </a:r>
            <a:r>
              <a:rPr lang="en-IN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turn</a:t>
            </a:r>
            <a:r>
              <a:rPr lang="en-IN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"AI   : </a:t>
            </a:r>
            <a:r>
              <a:rPr lang="en-IN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.content</a:t>
            </a:r>
            <a:r>
              <a:rPr lang="en-IN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C70A23-0709-B6CC-4D65-3BFCF52CEE32}"/>
              </a:ext>
            </a:extLst>
          </p:cNvPr>
          <p:cNvSpPr txBox="1"/>
          <p:nvPr/>
        </p:nvSpPr>
        <p:spPr>
          <a:xfrm>
            <a:off x="4078662" y="770005"/>
            <a:ext cx="3372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chemeClr val="accent6"/>
                </a:solidFill>
                <a:effectLst/>
                <a:latin typeface="IBM Plex Mono" panose="020B0509050203000203" pitchFamily="49" charset="0"/>
              </a:rPr>
              <a:t>11_conversation_memory.py</a:t>
            </a:r>
            <a:endParaRPr lang="en-IN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1857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BEC99-9056-3C03-3BD2-D3C5E247A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50D3D-5BEC-8C30-EDC2-14198FF77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91" y="194228"/>
            <a:ext cx="6327487" cy="417717"/>
          </a:xfrm>
        </p:spPr>
        <p:txBody>
          <a:bodyPr anchor="t">
            <a:noAutofit/>
          </a:bodyPr>
          <a:lstStyle/>
          <a:p>
            <a:r>
              <a:rPr lang="en-IN" sz="2400" b="1" dirty="0"/>
              <a:t>Agents</a:t>
            </a:r>
            <a:br>
              <a:rPr lang="en-IN" b="1" dirty="0"/>
            </a:br>
            <a:br>
              <a:rPr lang="en-IN" sz="3200" b="1" dirty="0"/>
            </a:br>
            <a:br>
              <a:rPr lang="en-US" sz="3200" b="1" dirty="0"/>
            </a:b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8D6E3A-412F-C9AD-073B-94A0E5A92A51}"/>
              </a:ext>
            </a:extLst>
          </p:cNvPr>
          <p:cNvSpPr txBox="1"/>
          <p:nvPr/>
        </p:nvSpPr>
        <p:spPr>
          <a:xfrm>
            <a:off x="408591" y="717830"/>
            <a:ext cx="1153194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Agents allow an LLM to solve tasks in a more flexible and intelligent way.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Instead of following one fixed sequence of steps, an </a:t>
            </a:r>
            <a:r>
              <a:rPr lang="en-US" b="1" dirty="0"/>
              <a:t>agent can decide which tool to use</a:t>
            </a:r>
            <a:r>
              <a:rPr lang="en-US" dirty="0"/>
              <a:t>, </a:t>
            </a:r>
            <a:r>
              <a:rPr lang="en-US" b="1" dirty="0"/>
              <a:t>when to use it</a:t>
            </a:r>
            <a:r>
              <a:rPr lang="en-US" dirty="0"/>
              <a:t>, and </a:t>
            </a:r>
            <a:r>
              <a:rPr lang="en-US" b="1" dirty="0"/>
              <a:t>how many steps are needed to complete the task</a:t>
            </a:r>
            <a:r>
              <a:rPr lang="en-US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This makes agents useful for open-ended problems where the model may need to </a:t>
            </a:r>
            <a:r>
              <a:rPr lang="en-US" b="1" dirty="0"/>
              <a:t>search for information</a:t>
            </a:r>
            <a:r>
              <a:rPr lang="en-US" dirty="0"/>
              <a:t>, </a:t>
            </a:r>
            <a:r>
              <a:rPr lang="en-US" b="1" dirty="0"/>
              <a:t>perform calculations, query documents, or call external APIs </a:t>
            </a:r>
            <a:r>
              <a:rPr lang="en-US" dirty="0"/>
              <a:t>before giving a final answer.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/>
              <a:t>LLM</a:t>
            </a:r>
            <a:r>
              <a:rPr lang="en-US" dirty="0"/>
              <a:t> – understands the task and reasons about what to do next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/>
              <a:t>Tools</a:t>
            </a:r>
            <a:r>
              <a:rPr lang="en-US" dirty="0"/>
              <a:t> – functions or services the agent can use, such as search, calculator, retriever, or APIs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/>
              <a:t>Loop</a:t>
            </a:r>
            <a:r>
              <a:rPr lang="en-US" dirty="0"/>
              <a:t> – the agent repeatedly reasons, selects a tool, observes the result, and decides whether to continue or stop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/>
              <a:t>Dynamic flow</a:t>
            </a:r>
            <a:r>
              <a:rPr lang="en-US" dirty="0"/>
              <a:t> – unlike a fixed chain, the sequence of actions can change based on the task and tool results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/>
              <a:t>Use case</a:t>
            </a:r>
            <a:r>
              <a:rPr lang="en-US" dirty="0"/>
              <a:t> – useful for multi-step, tool-based, and open-ended tasks</a:t>
            </a:r>
          </a:p>
        </p:txBody>
      </p:sp>
    </p:spTree>
    <p:extLst>
      <p:ext uri="{BB962C8B-B14F-4D97-AF65-F5344CB8AC3E}">
        <p14:creationId xmlns:p14="http://schemas.microsoft.com/office/powerpoint/2010/main" val="40715298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B6FB8-B841-C04C-0413-7461D94EF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6310-7960-A798-A059-870B73FDD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91" y="194228"/>
            <a:ext cx="6327487" cy="417717"/>
          </a:xfrm>
        </p:spPr>
        <p:txBody>
          <a:bodyPr anchor="t">
            <a:noAutofit/>
          </a:bodyPr>
          <a:lstStyle/>
          <a:p>
            <a:r>
              <a:rPr lang="en-IN" sz="2400" b="1" dirty="0"/>
              <a:t>Defining Tools</a:t>
            </a:r>
            <a:br>
              <a:rPr lang="en-IN" b="1" dirty="0"/>
            </a:br>
            <a:br>
              <a:rPr lang="en-IN" sz="3200" b="1" dirty="0"/>
            </a:br>
            <a:br>
              <a:rPr lang="en-US" sz="3200" b="1" dirty="0"/>
            </a:b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C0B860-EE7C-3667-C910-771330FDE2E7}"/>
              </a:ext>
            </a:extLst>
          </p:cNvPr>
          <p:cNvSpPr txBox="1"/>
          <p:nvPr/>
        </p:nvSpPr>
        <p:spPr>
          <a:xfrm>
            <a:off x="408591" y="717830"/>
            <a:ext cx="1153194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Tools are Python functions that an </a:t>
            </a:r>
            <a:r>
              <a:rPr lang="en-US" sz="1600" b="1" dirty="0"/>
              <a:t>LLM or agent can call </a:t>
            </a:r>
            <a:r>
              <a:rPr lang="en-US" sz="1600" dirty="0"/>
              <a:t>to perform specific tasks.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The simplest way to create them in LangChain is with the </a:t>
            </a:r>
            <a:r>
              <a:rPr lang="en-US" b="1" dirty="0"/>
              <a:t>@tool</a:t>
            </a:r>
            <a:r>
              <a:rPr lang="en-US" sz="1600" b="1" dirty="0"/>
              <a:t> decorator</a:t>
            </a:r>
            <a:r>
              <a:rPr lang="en-US" sz="1600" dirty="0"/>
              <a:t>, which automatically uses the function name as the tool name and the </a:t>
            </a:r>
            <a:r>
              <a:rPr lang="en-US" sz="1600" b="1" dirty="0"/>
              <a:t>docstring as the tool description </a:t>
            </a:r>
            <a:r>
              <a:rPr lang="en-US" sz="1600" dirty="0"/>
              <a:t>the model can read to decide when to use it.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CED70-8F51-954E-DE91-3DD0DC826A13}"/>
              </a:ext>
            </a:extLst>
          </p:cNvPr>
          <p:cNvSpPr txBox="1"/>
          <p:nvPr/>
        </p:nvSpPr>
        <p:spPr>
          <a:xfrm>
            <a:off x="483559" y="1983485"/>
            <a:ext cx="5749601" cy="47615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langchain_core.tools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tool</a:t>
            </a:r>
          </a:p>
          <a:p>
            <a:pPr>
              <a:lnSpc>
                <a:spcPts val="1425"/>
              </a:lnSpc>
              <a:buNone/>
            </a:pPr>
            <a:b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1. Current date and time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@tool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get_datetime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-&gt; </a:t>
            </a:r>
            <a:r>
              <a:rPr lang="en-I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"""Return the current date and time."""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strftime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"%Y-%m-</a:t>
            </a:r>
            <a:r>
              <a:rPr lang="en-IN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%H:%M"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2. Simple calculator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@tool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I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"""Evaluate a math expression."""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eval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{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"__builtins__"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{}}, {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"math"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}))</a:t>
            </a:r>
          </a:p>
          <a:p>
            <a:pPr>
              <a:lnSpc>
                <a:spcPts val="1425"/>
              </a:lnSpc>
              <a:buNone/>
            </a:pPr>
            <a:b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3. Word count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@tool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word_count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I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"""Count words in the given text."""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E778C3-CE18-4FA9-1DC8-8F505463AB2D}"/>
              </a:ext>
            </a:extLst>
          </p:cNvPr>
          <p:cNvSpPr txBox="1"/>
          <p:nvPr/>
        </p:nvSpPr>
        <p:spPr>
          <a:xfrm>
            <a:off x="6499860" y="1898973"/>
            <a:ext cx="3372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chemeClr val="accent6"/>
                </a:solidFill>
                <a:effectLst/>
                <a:latin typeface="IBM Plex Mono" panose="020B0509050203000203" pitchFamily="49" charset="0"/>
              </a:rPr>
              <a:t>14_tools.py</a:t>
            </a:r>
            <a:endParaRPr lang="en-IN" sz="1400" dirty="0">
              <a:solidFill>
                <a:schemeClr val="accent6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DC2824-E601-A4CE-F17C-9A8FBB433ABD}"/>
              </a:ext>
            </a:extLst>
          </p:cNvPr>
          <p:cNvSpPr txBox="1"/>
          <p:nvPr/>
        </p:nvSpPr>
        <p:spPr>
          <a:xfrm>
            <a:off x="6316980" y="2329739"/>
            <a:ext cx="5749601" cy="440248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-----------------------------------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Test tools directly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-----------------------------------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"=== DATETIME TOOL ==="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"Output      :"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get_datetime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.invoke({}))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"Name        :"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get_datetime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.name)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"Description :"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get_datetime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.description)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"=== CALCULATOR TOOL ==="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"Output      :"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.invoke({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"expression"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"math.sqrt(144) + 10"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}))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"Name        :"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.name)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"Description :"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.description)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"=== WORD COUNT TOOL ==="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"Output      :"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word_count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.invoke({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"Hello world from LangChain tools"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}))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"Name        :"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word_count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.name)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"Description :"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word_count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.description)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668986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756C8-AA12-DE63-4738-9D6467254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A7425-C2D6-A3F3-B81C-FED8B4B6D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91" y="122414"/>
            <a:ext cx="6327487" cy="417717"/>
          </a:xfrm>
        </p:spPr>
        <p:txBody>
          <a:bodyPr anchor="t">
            <a:noAutofit/>
          </a:bodyPr>
          <a:lstStyle/>
          <a:p>
            <a:r>
              <a:rPr lang="en-IN" sz="2400" b="1" dirty="0"/>
              <a:t>ReAct Agent</a:t>
            </a:r>
            <a:br>
              <a:rPr lang="en-IN" b="1" dirty="0"/>
            </a:br>
            <a:br>
              <a:rPr lang="en-IN" sz="3200" b="1" dirty="0"/>
            </a:br>
            <a:br>
              <a:rPr lang="en-US" sz="3200" b="1" dirty="0"/>
            </a:b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FCB9D-9456-CEA4-BB75-DF05B9715116}"/>
              </a:ext>
            </a:extLst>
          </p:cNvPr>
          <p:cNvSpPr txBox="1"/>
          <p:nvPr/>
        </p:nvSpPr>
        <p:spPr>
          <a:xfrm>
            <a:off x="408591" y="681923"/>
            <a:ext cx="114709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/>
              <a:t>ReAct (Reason + Act)</a:t>
            </a:r>
            <a:r>
              <a:rPr lang="en-US" sz="1600" dirty="0"/>
              <a:t> is a classic agent pattern where the model solves a task step by step by combining reasoning with tool usage.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Instead of giving the final answer immediately, it follows a loop such as </a:t>
            </a:r>
            <a:r>
              <a:rPr lang="en-US" sz="1600" b="1" dirty="0"/>
              <a:t>Thought → Action → Observation → Final Answer</a:t>
            </a:r>
            <a:r>
              <a:rPr lang="en-US" sz="1600" dirty="0"/>
              <a:t>, where it first thinks about what to do, then calls a tool, reads the result, and continues until it can produce the answer.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B1ACB6-0332-8938-B7B3-841C7C5F7F7B}"/>
              </a:ext>
            </a:extLst>
          </p:cNvPr>
          <p:cNvSpPr txBox="1"/>
          <p:nvPr/>
        </p:nvSpPr>
        <p:spPr>
          <a:xfrm>
            <a:off x="3505214" y="1975308"/>
            <a:ext cx="4251946" cy="476027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langchain_openai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ChatOpenAI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langchain.agents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create_agent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langchain_core.tools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tool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ChatOpenAI(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"meta-llama-3.1-8b-instruct"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base_url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"http://192.168.224.1:1234/v1"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api_key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"lm-studio"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@tool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IN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"""Evaluate a math expression."""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eval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{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"__builtins__"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{}}, {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"math"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}))</a:t>
            </a:r>
          </a:p>
          <a:p>
            <a:pPr>
              <a:lnSpc>
                <a:spcPts val="1425"/>
              </a:lnSpc>
              <a:buNone/>
            </a:pPr>
            <a:b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@tool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get_date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-&gt; </a:t>
            </a:r>
            <a:r>
              <a:rPr lang="en-IN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"""Return today's date."""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today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isoformat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55352E-3F38-8756-7962-ADA5000C41B4}"/>
              </a:ext>
            </a:extLst>
          </p:cNvPr>
          <p:cNvSpPr txBox="1"/>
          <p:nvPr/>
        </p:nvSpPr>
        <p:spPr>
          <a:xfrm>
            <a:off x="3505214" y="1654712"/>
            <a:ext cx="21412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chemeClr val="accent6"/>
                </a:solidFill>
                <a:effectLst/>
                <a:latin typeface="IBM Plex Mono" panose="020B0509050203000203" pitchFamily="49" charset="0"/>
              </a:rPr>
              <a:t>15_react_agent.py</a:t>
            </a:r>
            <a:endParaRPr lang="en-IN" sz="1400" dirty="0">
              <a:solidFill>
                <a:schemeClr val="accent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7726BB-2168-F1FA-DDC4-A64FA3C50DA2}"/>
              </a:ext>
            </a:extLst>
          </p:cNvPr>
          <p:cNvSpPr txBox="1"/>
          <p:nvPr/>
        </p:nvSpPr>
        <p:spPr>
          <a:xfrm>
            <a:off x="7834820" y="1975308"/>
            <a:ext cx="4251946" cy="476027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agent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create_agent(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tools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get_date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system_prompt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"You are a helpful assistant. "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"For date questions, always use the get_date tool. "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"For math questions, always use the calculate tool. "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"Do not guess."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agent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.invoke({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"messages"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"role"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"user"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"content"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"What is today's date and what is math.sqrt(2025)?"</a:t>
            </a: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]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425"/>
              </a:lnSpc>
              <a:buNone/>
            </a:pPr>
            <a:endParaRPr lang="en-IN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"messages"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].content)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9677F9-38D8-3A52-2C9E-3D962439DBC4}"/>
              </a:ext>
            </a:extLst>
          </p:cNvPr>
          <p:cNvSpPr txBox="1"/>
          <p:nvPr/>
        </p:nvSpPr>
        <p:spPr>
          <a:xfrm>
            <a:off x="250014" y="1975308"/>
            <a:ext cx="294276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b="1" dirty="0">
                <a:highlight>
                  <a:srgbClr val="FFFF00"/>
                </a:highlight>
              </a:rPr>
              <a:t>Remark: </a:t>
            </a:r>
            <a:r>
              <a:rPr lang="en-US" sz="1500" dirty="0">
                <a:highlight>
                  <a:srgbClr val="FFFF00"/>
                </a:highlight>
              </a:rPr>
              <a:t>With smaller locally running LLMs, especially lower-parameter models, </a:t>
            </a:r>
            <a:r>
              <a:rPr lang="en-US" sz="1500" b="1" dirty="0">
                <a:highlight>
                  <a:srgbClr val="FFFF00"/>
                </a:highlight>
              </a:rPr>
              <a:t>agentic tool calling may be unreliable</a:t>
            </a:r>
            <a:r>
              <a:rPr lang="en-US" sz="1500" dirty="0">
                <a:highlight>
                  <a:srgbClr val="FFFF00"/>
                </a:highlight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dirty="0"/>
              <a:t>In this example, the expected output was: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500" b="1" dirty="0"/>
              <a:t>“Today’s date is </a:t>
            </a:r>
            <a:r>
              <a:rPr lang="en-US" sz="1500" b="1" dirty="0">
                <a:latin typeface="Courier New" panose="02070309020205020404" pitchFamily="49" charset="0"/>
              </a:rPr>
              <a:t>&lt;current date&gt;</a:t>
            </a:r>
            <a:r>
              <a:rPr lang="en-US" sz="1500" b="1" dirty="0"/>
              <a:t>, and the square root of 2025 is 45.0.”</a:t>
            </a:r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dirty="0"/>
              <a:t>However, the model returned: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500" b="1" dirty="0"/>
              <a:t>“The current date is 2024-07-26 and math.sqrt(2025) equals 45.0.”</a:t>
            </a:r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dirty="0"/>
              <a:t>This indicates that the model likely </a:t>
            </a:r>
            <a:r>
              <a:rPr lang="en-US" sz="1500" b="1" dirty="0"/>
              <a:t>did not actually call the date tool</a:t>
            </a:r>
            <a:r>
              <a:rPr lang="en-US" sz="1500" dirty="0"/>
              <a:t> and instead </a:t>
            </a:r>
            <a:r>
              <a:rPr lang="en-US" sz="1500" b="1" dirty="0"/>
              <a:t>guessed the date from its internal knowledge</a:t>
            </a:r>
            <a:r>
              <a:rPr lang="en-US" sz="1500" dirty="0"/>
              <a:t>, while still producing the correct math result.</a:t>
            </a:r>
          </a:p>
        </p:txBody>
      </p:sp>
    </p:spTree>
    <p:extLst>
      <p:ext uri="{BB962C8B-B14F-4D97-AF65-F5344CB8AC3E}">
        <p14:creationId xmlns:p14="http://schemas.microsoft.com/office/powerpoint/2010/main" val="31216211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735B4-C7A8-647E-0F12-E76C375CD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C2C4B-57C1-8228-D32E-A7C0121FC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91" y="194228"/>
            <a:ext cx="6327487" cy="417717"/>
          </a:xfrm>
        </p:spPr>
        <p:txBody>
          <a:bodyPr anchor="t">
            <a:noAutofit/>
          </a:bodyPr>
          <a:lstStyle/>
          <a:p>
            <a:r>
              <a:rPr lang="en-IN" sz="2400" b="1" dirty="0"/>
              <a:t>Built-in Community Tools  [1/2]</a:t>
            </a:r>
            <a:br>
              <a:rPr lang="en-IN" b="1" dirty="0"/>
            </a:br>
            <a:br>
              <a:rPr lang="en-IN" sz="3200" b="1" dirty="0"/>
            </a:br>
            <a:br>
              <a:rPr lang="en-US" sz="3200" b="1" dirty="0"/>
            </a:b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3D3D33-D332-049A-9C3E-E81EB4268E06}"/>
              </a:ext>
            </a:extLst>
          </p:cNvPr>
          <p:cNvSpPr txBox="1"/>
          <p:nvPr/>
        </p:nvSpPr>
        <p:spPr>
          <a:xfrm>
            <a:off x="408591" y="781073"/>
            <a:ext cx="308968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LangChain ships dozens of pre-built tools for search, Wikipedia, Python execution, file I/O, databases, and APIs.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This demo shows how LangChain tools can fetch external information from public sources.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DuckDuckGoSearchRun</a:t>
            </a:r>
            <a:r>
              <a:rPr lang="en-IN" dirty="0"/>
              <a:t> performs web search, while </a:t>
            </a:r>
            <a:r>
              <a:rPr lang="en-IN" b="1" dirty="0"/>
              <a:t>WikipediaQueryRun</a:t>
            </a:r>
            <a:r>
              <a:rPr lang="en-IN" dirty="0"/>
              <a:t> fetches topic summaries from Wikipedia.</a:t>
            </a:r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AF06DA-ED84-EBFF-3369-1257446DEF8C}"/>
              </a:ext>
            </a:extLst>
          </p:cNvPr>
          <p:cNvSpPr txBox="1"/>
          <p:nvPr/>
        </p:nvSpPr>
        <p:spPr>
          <a:xfrm>
            <a:off x="3921564" y="1007293"/>
            <a:ext cx="8032830" cy="512050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langchain_community.tools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DuckDuckGoSearchRun, WikipediaQueryRun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langchain_community.utilities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WikipediaAPIWrapper</a:t>
            </a:r>
          </a:p>
          <a:p>
            <a:pPr>
              <a:lnSpc>
                <a:spcPts val="1425"/>
              </a:lnSpc>
              <a:buNone/>
            </a:pP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1. DuckDuckGo Search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search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DuckDuckGoSearchRun()</a:t>
            </a:r>
          </a:p>
          <a:p>
            <a:pPr>
              <a:lnSpc>
                <a:spcPts val="1425"/>
              </a:lnSpc>
              <a:buNone/>
            </a:pP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"=== DUCKDUCKGO SEARCH ==="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search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.invoke(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"What is LangChain?"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[: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"Search error:"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2. Wikipedia Search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wiki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WikipediaQueryRun(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api_wrapper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WikipediaAPIWrapper(</a:t>
            </a:r>
            <a:r>
              <a:rPr lang="en-IN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top_k_results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"=== WIKIPEDIA SEARCH ==="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wiki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.invoke(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"Retrieval-Augmented Generation"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[: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"Wikipedia error:"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1400" b="0" i="0" dirty="0">
              <a:solidFill>
                <a:srgbClr val="E2E8F0"/>
              </a:solidFill>
              <a:effectLst/>
              <a:latin typeface="IBM Plex Mono" panose="020B0509050203000203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FE76E9-B261-50B8-EAB4-22F94A6A34B5}"/>
              </a:ext>
            </a:extLst>
          </p:cNvPr>
          <p:cNvSpPr txBox="1"/>
          <p:nvPr/>
        </p:nvSpPr>
        <p:spPr>
          <a:xfrm>
            <a:off x="3921564" y="611945"/>
            <a:ext cx="3219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chemeClr val="accent6"/>
                </a:solidFill>
                <a:effectLst/>
                <a:latin typeface="IBM Plex Mono" panose="020B0509050203000203" pitchFamily="49" charset="0"/>
              </a:rPr>
              <a:t>18_builtin_tools.py</a:t>
            </a:r>
            <a:endParaRPr lang="en-IN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54527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721D9-1084-F56F-5C7B-AF49A607A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F745A-8EA7-72D6-9ABB-75EC65962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91" y="194228"/>
            <a:ext cx="6327487" cy="417717"/>
          </a:xfrm>
        </p:spPr>
        <p:txBody>
          <a:bodyPr anchor="t">
            <a:noAutofit/>
          </a:bodyPr>
          <a:lstStyle/>
          <a:p>
            <a:r>
              <a:rPr lang="en-IN" sz="2400" b="1" dirty="0"/>
              <a:t>Built-in Community Tools  [2/2]</a:t>
            </a:r>
            <a:br>
              <a:rPr lang="en-IN" b="1" dirty="0"/>
            </a:br>
            <a:br>
              <a:rPr lang="en-IN" sz="3200" b="1" dirty="0"/>
            </a:br>
            <a:br>
              <a:rPr lang="en-US" sz="3200" b="1" dirty="0"/>
            </a:b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013710-FF70-CCC4-969F-D3D7D4A1320D}"/>
              </a:ext>
            </a:extLst>
          </p:cNvPr>
          <p:cNvSpPr txBox="1"/>
          <p:nvPr/>
        </p:nvSpPr>
        <p:spPr>
          <a:xfrm>
            <a:off x="408591" y="765833"/>
            <a:ext cx="308968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/>
              <a:t>YouTube Loader</a:t>
            </a:r>
            <a:br>
              <a:rPr lang="en-IN" sz="1600" dirty="0"/>
            </a:br>
            <a:r>
              <a:rPr lang="en-IN" sz="1600" dirty="0"/>
              <a:t>This code uses </a:t>
            </a:r>
            <a:r>
              <a:rPr lang="en-IN" sz="1600" b="1" dirty="0"/>
              <a:t>LangChain’s YoutubeLoader </a:t>
            </a:r>
            <a:r>
              <a:rPr lang="en-IN" sz="1600" dirty="0"/>
              <a:t>to load transcript text from a YouTube video URL.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dirty="0"/>
              <a:t>The video content is converted into </a:t>
            </a:r>
            <a:r>
              <a:rPr lang="en-IN" sz="1600" b="1" dirty="0"/>
              <a:t>Document objects</a:t>
            </a:r>
            <a:r>
              <a:rPr lang="en-IN" sz="1600" dirty="0"/>
              <a:t>, and the transcript text can then be used for </a:t>
            </a:r>
            <a:r>
              <a:rPr lang="en-IN" sz="1600" b="1" dirty="0"/>
              <a:t>summarization, QnA, search, or RAG workflows</a:t>
            </a:r>
            <a:r>
              <a:rPr lang="en-IN" sz="16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dirty="0"/>
              <a:t>Loads transcript text from a YouTube video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dirty="0"/>
              <a:t>Converts it into </a:t>
            </a:r>
            <a:r>
              <a:rPr lang="en-IN" sz="1600" b="1" dirty="0"/>
              <a:t>LangChain Document format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dirty="0"/>
              <a:t>Useful for summarization, search, and question answering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dirty="0"/>
              <a:t>Helps bring video content into </a:t>
            </a:r>
            <a:r>
              <a:rPr lang="en-IN" sz="1600" b="1" dirty="0"/>
              <a:t>LLM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CDFB3C-DE2E-1132-4E91-1050D7A4A388}"/>
              </a:ext>
            </a:extLst>
          </p:cNvPr>
          <p:cNvSpPr txBox="1"/>
          <p:nvPr/>
        </p:nvSpPr>
        <p:spPr>
          <a:xfrm>
            <a:off x="3983909" y="1216698"/>
            <a:ext cx="7044309" cy="206851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langchain_community.document_loaders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YoutubeLoader</a:t>
            </a:r>
          </a:p>
          <a:p>
            <a:pPr>
              <a:lnSpc>
                <a:spcPts val="1425"/>
              </a:lnSpc>
              <a:buNone/>
            </a:pPr>
            <a:b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loader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YoutubeLoader.from_youtube_url(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"https://www.youtube.com/watch?v=UTMeTvlG7Nc"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add_video_info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docs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loader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.load()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docs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].page_content[: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4000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BA2279-D410-ECE3-2644-2FD53B306FC3}"/>
              </a:ext>
            </a:extLst>
          </p:cNvPr>
          <p:cNvSpPr txBox="1"/>
          <p:nvPr/>
        </p:nvSpPr>
        <p:spPr>
          <a:xfrm>
            <a:off x="3983909" y="840545"/>
            <a:ext cx="3219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chemeClr val="accent6"/>
                </a:solidFill>
                <a:effectLst/>
                <a:latin typeface="IBM Plex Mono" panose="020B0509050203000203" pitchFamily="49" charset="0"/>
              </a:rPr>
              <a:t>19_builtin_tools.py</a:t>
            </a:r>
            <a:endParaRPr lang="en-IN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9517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F2E64-652F-0C21-2369-B3200462E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024BA3-DCD4-1D56-2FFB-30CB6AF26007}"/>
              </a:ext>
            </a:extLst>
          </p:cNvPr>
          <p:cNvSpPr txBox="1"/>
          <p:nvPr/>
        </p:nvSpPr>
        <p:spPr>
          <a:xfrm>
            <a:off x="2535380" y="2766352"/>
            <a:ext cx="73498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3200" dirty="0">
                <a:solidFill>
                  <a:srgbClr val="0070C0"/>
                </a:solidFill>
              </a:rPr>
              <a:t>Hands-on Demo – Resume Parser RAG</a:t>
            </a:r>
            <a:endParaRPr lang="en-IN" sz="3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1368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4D43B0-F6CE-576E-1ADD-5A14727D2D21}"/>
              </a:ext>
            </a:extLst>
          </p:cNvPr>
          <p:cNvSpPr txBox="1"/>
          <p:nvPr/>
        </p:nvSpPr>
        <p:spPr>
          <a:xfrm>
            <a:off x="921681" y="833174"/>
            <a:ext cx="9037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0C8914-1705-850C-865C-A29100B3F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84" y="211850"/>
            <a:ext cx="6327487" cy="417717"/>
          </a:xfrm>
        </p:spPr>
        <p:txBody>
          <a:bodyPr anchor="t">
            <a:noAutofit/>
          </a:bodyPr>
          <a:lstStyle/>
          <a:p>
            <a:r>
              <a:rPr lang="en-IN" sz="2400" dirty="0"/>
              <a:t>Important Note</a:t>
            </a:r>
            <a:br>
              <a:rPr lang="en-IN" dirty="0"/>
            </a:br>
            <a:br>
              <a:rPr lang="en-IN" sz="3200" dirty="0"/>
            </a:br>
            <a:br>
              <a:rPr lang="en-US" sz="3200" dirty="0"/>
            </a:br>
            <a:endParaRPr lang="en-IN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EBC320-C9FD-FA46-F9DE-39E8DA12AE44}"/>
              </a:ext>
            </a:extLst>
          </p:cNvPr>
          <p:cNvSpPr txBox="1"/>
          <p:nvPr/>
        </p:nvSpPr>
        <p:spPr>
          <a:xfrm>
            <a:off x="524820" y="843677"/>
            <a:ext cx="103198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We have covered a wide range of LangChain concepts and hands-on demos, including a detailed practical walkthrough of a RAG-based resume parser.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All cohort members can continue learning the remaining topics in </a:t>
            </a:r>
            <a:r>
              <a:rPr lang="en-US" b="1" dirty="0"/>
              <a:t>Module 7</a:t>
            </a:r>
            <a:r>
              <a:rPr lang="en-US" dirty="0"/>
              <a:t>—such as </a:t>
            </a:r>
            <a:r>
              <a:rPr lang="en-US" b="1" dirty="0"/>
              <a:t>scalable/distributed vector stores, content moderation and safety, latency optimization, RAG evaluation using Ragas and </a:t>
            </a:r>
            <a:r>
              <a:rPr lang="en-US" b="1" dirty="0" err="1"/>
              <a:t>DeepEval</a:t>
            </a:r>
            <a:r>
              <a:rPr lang="en-US" b="1" dirty="0"/>
              <a:t>, and monitoring/observability</a:t>
            </a:r>
            <a:r>
              <a:rPr lang="en-US" dirty="0"/>
              <a:t>—through self-study, and gradually try implementing them in their own POCs with guidance from SMEs.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88380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pdate of ESMA's Q&amp;A on the market abuse regulation">
            <a:extLst>
              <a:ext uri="{FF2B5EF4-FFF2-40B4-BE49-F238E27FC236}">
                <a16:creationId xmlns:a16="http://schemas.microsoft.com/office/drawing/2014/main" id="{E196E14D-AD36-B024-D91E-4D37F6771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9606" y="1853164"/>
            <a:ext cx="5252787" cy="3151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17174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2180E-666E-2816-02EC-4B7A0D183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64" y="306572"/>
            <a:ext cx="3215640" cy="313054"/>
          </a:xfrm>
        </p:spPr>
        <p:txBody>
          <a:bodyPr>
            <a:noAutofit/>
          </a:bodyPr>
          <a:lstStyle/>
          <a:p>
            <a:r>
              <a:rPr lang="en-IN" sz="2400" b="1" dirty="0"/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41EA31-8453-0035-26F9-293BEA4BA5D0}"/>
              </a:ext>
            </a:extLst>
          </p:cNvPr>
          <p:cNvSpPr txBox="1"/>
          <p:nvPr/>
        </p:nvSpPr>
        <p:spPr>
          <a:xfrm>
            <a:off x="520164" y="743367"/>
            <a:ext cx="9315651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hlinkClick r:id="rId2"/>
              </a:rPr>
              <a:t>https://upstash.com/blog/langchain-explained</a:t>
            </a:r>
            <a:r>
              <a:rPr lang="en-IN" sz="1600" dirty="0"/>
              <a:t> </a:t>
            </a:r>
          </a:p>
          <a:p>
            <a:r>
              <a:rPr lang="en-IN" sz="1600" dirty="0">
                <a:hlinkClick r:id="rId3"/>
              </a:rPr>
              <a:t>https://github.com/langchain-ai/langchain</a:t>
            </a:r>
            <a:r>
              <a:rPr lang="en-IN" sz="1600" dirty="0"/>
              <a:t> </a:t>
            </a:r>
          </a:p>
          <a:p>
            <a:r>
              <a:rPr lang="en-IN" sz="1600" dirty="0">
                <a:hlinkClick r:id="rId4"/>
              </a:rPr>
              <a:t>https://docs.langchain.com/langsmith/prompt-template-format</a:t>
            </a:r>
            <a:endParaRPr lang="en-IN" sz="1600" dirty="0"/>
          </a:p>
          <a:p>
            <a:r>
              <a:rPr lang="en-IN" sz="1600" dirty="0">
                <a:hlinkClick r:id="rId5"/>
              </a:rPr>
              <a:t>https://smith.langchain.com/hub</a:t>
            </a:r>
            <a:endParaRPr lang="en-IN" sz="1600" dirty="0"/>
          </a:p>
          <a:p>
            <a:r>
              <a:rPr lang="en-IN" sz="1600" dirty="0">
                <a:hlinkClick r:id="rId6"/>
              </a:rPr>
              <a:t>https://docs.langchain.com/oss/python/langchain/overview</a:t>
            </a:r>
            <a:r>
              <a:rPr lang="en-IN" sz="1600" dirty="0"/>
              <a:t> </a:t>
            </a:r>
          </a:p>
          <a:p>
            <a:r>
              <a:rPr lang="en-IN" sz="1600" dirty="0">
                <a:hlinkClick r:id="rId7"/>
              </a:rPr>
              <a:t>https://docs.langchain.com/oss/python/integrations/chat/openai</a:t>
            </a:r>
            <a:r>
              <a:rPr lang="en-IN" sz="1600" dirty="0"/>
              <a:t> </a:t>
            </a:r>
          </a:p>
          <a:p>
            <a:r>
              <a:rPr lang="en-IN" sz="1600" dirty="0">
                <a:hlinkClick r:id="rId8"/>
              </a:rPr>
              <a:t>https://python-client.qdrant.tech/</a:t>
            </a:r>
            <a:r>
              <a:rPr lang="en-IN" sz="1600" dirty="0"/>
              <a:t> </a:t>
            </a:r>
          </a:p>
          <a:p>
            <a:r>
              <a:rPr lang="en-IN" sz="1600" dirty="0">
                <a:hlinkClick r:id="rId9"/>
              </a:rPr>
              <a:t>https://qdrant.tech/documentation/tutorials-search-engineering/retrieval-quality/</a:t>
            </a:r>
            <a:r>
              <a:rPr lang="en-IN" sz="1600" dirty="0"/>
              <a:t> </a:t>
            </a:r>
          </a:p>
          <a:p>
            <a:r>
              <a:rPr lang="en-IN" sz="1600" dirty="0">
                <a:hlinkClick r:id="rId10"/>
              </a:rPr>
              <a:t>https://qdrant.tech/documentation/search/search/</a:t>
            </a:r>
            <a:r>
              <a:rPr lang="en-IN" sz="1600" dirty="0"/>
              <a:t> </a:t>
            </a:r>
          </a:p>
          <a:p>
            <a:r>
              <a:rPr lang="en-IN" sz="1600" dirty="0">
                <a:hlinkClick r:id="rId11"/>
              </a:rPr>
              <a:t>https://github.com/facebookresearch/faiss</a:t>
            </a:r>
            <a:r>
              <a:rPr lang="en-IN" sz="1600" dirty="0"/>
              <a:t> </a:t>
            </a:r>
          </a:p>
          <a:p>
            <a:r>
              <a:rPr lang="en-IN" sz="1600" dirty="0">
                <a:hlinkClick r:id="rId12"/>
              </a:rPr>
              <a:t>https://huggingface.co/sentence-transformers/all-MiniLM-L6-v2</a:t>
            </a:r>
            <a:r>
              <a:rPr lang="en-IN" sz="1600" dirty="0"/>
              <a:t> </a:t>
            </a:r>
          </a:p>
          <a:p>
            <a:r>
              <a:rPr lang="en-IN" sz="1600" dirty="0">
                <a:hlinkClick r:id="rId13"/>
              </a:rPr>
              <a:t>https://www.sbert.net/docs/sentence_transformer/usage/usage.html</a:t>
            </a:r>
            <a:r>
              <a:rPr lang="en-IN" sz="1600" dirty="0"/>
              <a:t> </a:t>
            </a:r>
          </a:p>
          <a:p>
            <a:r>
              <a:rPr lang="en-IN" sz="1600" dirty="0">
                <a:hlinkClick r:id="rId14"/>
              </a:rPr>
              <a:t>https://fastapi.tiangolo.com/tutorial/request-files/</a:t>
            </a:r>
            <a:r>
              <a:rPr lang="en-IN" sz="1600" dirty="0"/>
              <a:t> </a:t>
            </a:r>
          </a:p>
          <a:p>
            <a:r>
              <a:rPr lang="en-IN" sz="1600" dirty="0">
                <a:hlinkClick r:id="rId15"/>
              </a:rPr>
              <a:t>https://pypdf.readthedocs.io/en/latest/user/extract-text.html</a:t>
            </a:r>
            <a:r>
              <a:rPr lang="en-IN" sz="1600" dirty="0"/>
              <a:t> </a:t>
            </a:r>
          </a:p>
          <a:p>
            <a:r>
              <a:rPr lang="en-IN" sz="1600" dirty="0">
                <a:hlinkClick r:id="rId16"/>
              </a:rPr>
              <a:t>https://docs.ragas.io/en/latest/</a:t>
            </a:r>
            <a:r>
              <a:rPr lang="en-IN" sz="1600" dirty="0"/>
              <a:t> </a:t>
            </a:r>
          </a:p>
          <a:p>
            <a:endParaRPr lang="en-IN" sz="1400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763513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7922</TotalTime>
  <Words>7007</Words>
  <Application>Microsoft Office PowerPoint</Application>
  <PresentationFormat>Widescreen</PresentationFormat>
  <Paragraphs>911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Arial</vt:lpstr>
      <vt:lpstr>Calibri</vt:lpstr>
      <vt:lpstr>Calibri body</vt:lpstr>
      <vt:lpstr>Calibri Light</vt:lpstr>
      <vt:lpstr>Consolas</vt:lpstr>
      <vt:lpstr>Courier New</vt:lpstr>
      <vt:lpstr>IBM Plex Mono</vt:lpstr>
      <vt:lpstr>Wingdings</vt:lpstr>
      <vt:lpstr>Office Theme</vt:lpstr>
      <vt:lpstr> AI Capability 2.0  Modules – 6 &amp; 7</vt:lpstr>
      <vt:lpstr>Today’s Topics</vt:lpstr>
      <vt:lpstr>Langchain</vt:lpstr>
      <vt:lpstr>Langchain Capabilities</vt:lpstr>
      <vt:lpstr>Model I/O   </vt:lpstr>
      <vt:lpstr>LLMs   </vt:lpstr>
      <vt:lpstr>Chat Models   </vt:lpstr>
      <vt:lpstr>Output Parsers   </vt:lpstr>
      <vt:lpstr>Prompt Engineering   </vt:lpstr>
      <vt:lpstr>Role Prompting   </vt:lpstr>
      <vt:lpstr>Chain-of-Thought(CoT) Prompting   </vt:lpstr>
      <vt:lpstr>Format Instructions &amp; Structured Output   </vt:lpstr>
      <vt:lpstr>Prompt Composition Patterns   </vt:lpstr>
      <vt:lpstr>Retrieval   </vt:lpstr>
      <vt:lpstr>Document Loaders   </vt:lpstr>
      <vt:lpstr>Text Splitters   </vt:lpstr>
      <vt:lpstr>Embedding Models   </vt:lpstr>
      <vt:lpstr>Retrievers   </vt:lpstr>
      <vt:lpstr>Chains   </vt:lpstr>
      <vt:lpstr>LCEL — LangChain Expression Language   </vt:lpstr>
      <vt:lpstr>Sequential Flow   </vt:lpstr>
      <vt:lpstr>Memory   </vt:lpstr>
      <vt:lpstr>Conversation Memory   </vt:lpstr>
      <vt:lpstr>Agents   </vt:lpstr>
      <vt:lpstr>Defining Tools   </vt:lpstr>
      <vt:lpstr>ReAct Agent   </vt:lpstr>
      <vt:lpstr>Built-in Community Tools  [1/2]   </vt:lpstr>
      <vt:lpstr>Built-in Community Tools  [2/2]   </vt:lpstr>
      <vt:lpstr>PowerPoint Presentation</vt:lpstr>
      <vt:lpstr>Important Note   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 Ranjan</dc:creator>
  <cp:lastModifiedBy>Priya Ranjan</cp:lastModifiedBy>
  <cp:revision>291</cp:revision>
  <dcterms:created xsi:type="dcterms:W3CDTF">2026-03-04T11:48:26Z</dcterms:created>
  <dcterms:modified xsi:type="dcterms:W3CDTF">2026-04-06T10:55:37Z</dcterms:modified>
</cp:coreProperties>
</file>