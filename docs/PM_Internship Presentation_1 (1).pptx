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58" r:id="rId5"/>
    <p:sldId id="270" r:id="rId6"/>
    <p:sldId id="264" r:id="rId7"/>
    <p:sldId id="265" r:id="rId8"/>
    <p:sldId id="266" r:id="rId9"/>
    <p:sldId id="267" r:id="rId10"/>
    <p:sldId id="268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C1wCH6WzCR2a2s5stk3SneVLp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701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4233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415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995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="" xmlns:a16="http://schemas.microsoft.com/office/drawing/2014/main" id="{6608B44E-6DB6-E334-B527-EF48414D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>
            <a:extLst>
              <a:ext uri="{FF2B5EF4-FFF2-40B4-BE49-F238E27FC236}">
                <a16:creationId xmlns="" xmlns:a16="http://schemas.microsoft.com/office/drawing/2014/main" id="{56204C65-AC7A-32A1-4E6B-C6B375F1E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>
            <a:extLst>
              <a:ext uri="{FF2B5EF4-FFF2-40B4-BE49-F238E27FC236}">
                <a16:creationId xmlns="" xmlns:a16="http://schemas.microsoft.com/office/drawing/2014/main" id="{3F5FAF67-58B8-1EA2-3A58-D973C2027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5240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824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9436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="" xmlns:a16="http://schemas.microsoft.com/office/drawing/2014/main" id="{04FAA4A3-468E-7F65-0539-A64DE8E0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="" xmlns:a16="http://schemas.microsoft.com/office/drawing/2014/main" id="{35C3B785-60B3-B121-1998-B3D516AA8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="" xmlns:a16="http://schemas.microsoft.com/office/drawing/2014/main" id="{E777891A-254D-CA4B-F2AC-B7B1EAFA7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949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="" xmlns:a16="http://schemas.microsoft.com/office/drawing/2014/main" id="{012BBA4C-45A1-E81E-97E9-0263D542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="" xmlns:a16="http://schemas.microsoft.com/office/drawing/2014/main" id="{63697A0B-872A-573A-638F-8F9EC3BAE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="" xmlns:a16="http://schemas.microsoft.com/office/drawing/2014/main" id="{AFA78AD0-44D5-2B01-9141-937C91793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059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="" xmlns:a16="http://schemas.microsoft.com/office/drawing/2014/main" id="{7E84B120-629E-09DB-5798-0A03D925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="" xmlns:a16="http://schemas.microsoft.com/office/drawing/2014/main" id="{798E1094-ED61-9839-B228-B45A80486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="" xmlns:a16="http://schemas.microsoft.com/office/drawing/2014/main" id="{853C3F42-514E-000B-1201-3C7F8F0EB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511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="" xmlns:a16="http://schemas.microsoft.com/office/drawing/2014/main" id="{65B2E58D-20D3-CCED-0994-07869CDB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="" xmlns:a16="http://schemas.microsoft.com/office/drawing/2014/main" id="{B0FDB677-FB36-039F-DE47-250BD102B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="" xmlns:a16="http://schemas.microsoft.com/office/drawing/2014/main" id="{FBCE1770-D87D-6680-6F70-26CAE2A34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774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="" xmlns:a16="http://schemas.microsoft.com/office/drawing/2014/main" id="{E14848F4-4491-85F6-21DD-592F913D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="" xmlns:a16="http://schemas.microsoft.com/office/drawing/2014/main" id="{08AB8EBF-CC0D-6C17-7D51-7D6187CA1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="" xmlns:a16="http://schemas.microsoft.com/office/drawing/2014/main" id="{4C8BFF62-970B-6E3B-4BF4-E106C3B5B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070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832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3175" y="6492874"/>
            <a:ext cx="12188825" cy="36512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-1905" y="6424595"/>
            <a:ext cx="12207240" cy="91440"/>
          </a:xfrm>
          <a:prstGeom prst="rect">
            <a:avLst/>
          </a:prstGeom>
          <a:solidFill>
            <a:srgbClr val="FCB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9" name="Google Shape;79;p1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ling-project.github.io/docling/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-34661" y="1765837"/>
            <a:ext cx="12239773" cy="957558"/>
          </a:xfrm>
          <a:prstGeom prst="rect">
            <a:avLst/>
          </a:prstGeom>
          <a:solidFill>
            <a:srgbClr val="FCBD0D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247" y="239784"/>
            <a:ext cx="120210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-86379" y="293314"/>
            <a:ext cx="12190099" cy="2038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 H PATEL COLLEGE OF ENGINEERING &amp; TECHNOLOGY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(THE CHARUTAR VIDYA MANDAL (CVM) UNIVERSITY)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100" b="1" cap="small" dirty="0">
                <a:solidFill>
                  <a:srgbClr val="7242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2100" b="1" i="0" u="none" strike="noStrike" cap="small" dirty="0">
                <a:solidFill>
                  <a:srgbClr val="72420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Information Technology</a:t>
            </a:r>
            <a:br>
              <a:rPr lang="en-US" sz="2100" b="1" i="0" u="none" strike="noStrike" cap="small" dirty="0">
                <a:solidFill>
                  <a:srgbClr val="72420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endParaRPr sz="2100" b="1" i="0" u="none" strike="noStrike" cap="small" dirty="0">
              <a:solidFill>
                <a:srgbClr val="72420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endParaRPr sz="2100" b="1" cap="small" dirty="0">
              <a:solidFill>
                <a:srgbClr val="7242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10222" y="4595729"/>
            <a:ext cx="238759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-60610" y="2049058"/>
            <a:ext cx="1213856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RAG Agent for Enterprise Guidelines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9019523" y="4595276"/>
            <a:ext cx="26292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Internal Guide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3114" y="4096643"/>
            <a:ext cx="121919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27</a:t>
            </a:r>
            <a:r>
              <a:rPr lang="en-US" sz="2200" b="1" i="0" u="none" strike="noStrike" cap="small" baseline="30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</a:t>
            </a:r>
            <a:r>
              <a:rPr lang="en-US" sz="22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2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February, 2026</a:t>
            </a:r>
            <a:endParaRPr sz="2200" b="1" i="0" u="none" strike="noStrike" cap="small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40325" y="2824114"/>
            <a:ext cx="121647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800" b="1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(202000</a:t>
            </a:r>
            <a:r>
              <a:rPr lang="en-US" sz="2800" b="1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01)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 dirty="0" smtClean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3200" b="1" i="0" u="none" strike="noStrike" cap="small" dirty="0" smtClean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200" b="1" i="0" u="none" strike="noStrike" cap="small" dirty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378483" y="4595729"/>
            <a:ext cx="32603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External Guide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4037649" y="4995386"/>
            <a:ext cx="4170052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Kajal</a:t>
            </a:r>
            <a:r>
              <a:rPr lang="en-US" sz="22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Mishra</a:t>
            </a:r>
            <a:endParaRPr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1600" b="1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scientist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Aziro</a:t>
            </a: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Pvt. Ltd. </a:t>
            </a:r>
            <a:r>
              <a:rPr lang="en-US" sz="16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lang="en-US" sz="1600" b="1" i="0" u="none" strike="noStrike" cap="small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Pune</a:t>
            </a:r>
          </a:p>
        </p:txBody>
      </p:sp>
      <p:sp>
        <p:nvSpPr>
          <p:cNvPr id="113" name="Google Shape;113;p1"/>
          <p:cNvSpPr/>
          <p:nvPr/>
        </p:nvSpPr>
        <p:spPr>
          <a:xfrm>
            <a:off x="11688616" y="6564686"/>
            <a:ext cx="468086" cy="273792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8029357" y="5059989"/>
            <a:ext cx="4609612" cy="109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r. </a:t>
            </a:r>
            <a:r>
              <a:rPr lang="en-US" sz="2200" b="1" i="0" u="none" strike="noStrike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kinjal</a:t>
            </a:r>
            <a:r>
              <a:rPr lang="en-US" sz="22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200" b="1" i="0" u="none" strike="noStrike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joshi</a:t>
            </a:r>
            <a:endParaRPr lang="en-US" sz="2200" b="1" i="0" u="none" strike="noStrike" cap="small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US" sz="16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Department, GCET,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Vallabh Vidyanagar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" name="Google Shape;115;p1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2097" y="239784"/>
            <a:ext cx="1384038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-281007" y="5059989"/>
            <a:ext cx="4170052" cy="11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Krupa </a:t>
            </a:r>
            <a:r>
              <a:rPr lang="en-US" sz="2200" b="1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Dhaval</a:t>
            </a:r>
            <a:r>
              <a:rPr lang="en-US" sz="22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cap="small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Jantrania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12202130501036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</a:t>
            </a:r>
            <a:r>
              <a:rPr lang="en-US" sz="1600" b="1" i="0" u="none" strike="noStrike" cap="small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en-US" sz="1600" b="1" i="0" u="none" strike="noStrike" cap="sm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GCET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/>
        </p:nvSpPr>
        <p:spPr>
          <a:xfrm>
            <a:off x="190311" y="1172826"/>
            <a:ext cx="11571889" cy="540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>
                <a:solidFill>
                  <a:schemeClr val="dk1"/>
                </a:solidFill>
              </a:rPr>
              <a:t>Company Profile</a:t>
            </a:r>
            <a:endParaRPr lang="en-US"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Introduction/Problem Statement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 smtClean="0">
                <a:solidFill>
                  <a:schemeClr val="dk1"/>
                </a:solidFill>
              </a:rPr>
              <a:t>Project Objectives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IN" sz="2400" cap="small" dirty="0" smtClean="0">
                <a:solidFill>
                  <a:schemeClr val="dk1"/>
                </a:solidFill>
              </a:rPr>
              <a:t>Tools and Technologies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 smtClean="0">
                <a:solidFill>
                  <a:schemeClr val="dk1"/>
                </a:solidFill>
              </a:rPr>
              <a:t>Roles and </a:t>
            </a:r>
            <a:r>
              <a:rPr lang="en-US" sz="2400" cap="small" dirty="0" err="1" smtClean="0">
                <a:solidFill>
                  <a:schemeClr val="dk1"/>
                </a:solidFill>
              </a:rPr>
              <a:t>responsibities</a:t>
            </a:r>
            <a:endParaRPr lang="en-US" sz="2400" cap="small" dirty="0" smtClean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 smtClean="0">
                <a:solidFill>
                  <a:schemeClr val="dk1"/>
                </a:solidFill>
              </a:rPr>
              <a:t>Work </a:t>
            </a:r>
            <a:r>
              <a:rPr lang="en-US" sz="2400" cap="small" dirty="0">
                <a:solidFill>
                  <a:schemeClr val="dk1"/>
                </a:solidFill>
              </a:rPr>
              <a:t>Plan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IN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dirty="0"/>
          </a:p>
          <a:p>
            <a:pPr marL="342900" marR="0" lvl="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Noto Sans Symbols"/>
              <a:buNone/>
            </a:pP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  <p:sp>
        <p:nvSpPr>
          <p:cNvPr id="125" name="Google Shape;125;p2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u="non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pic>
        <p:nvPicPr>
          <p:cNvPr id="127" name="Google Shape;127;p2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="" xmlns:a16="http://schemas.microsoft.com/office/drawing/2014/main" id="{B02FBC76-3C28-A078-BDC9-1C71D1A2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">
            <a:extLst>
              <a:ext uri="{FF2B5EF4-FFF2-40B4-BE49-F238E27FC236}">
                <a16:creationId xmlns="" xmlns:a16="http://schemas.microsoft.com/office/drawing/2014/main" id="{58AE75C2-26A5-5E11-BE5A-4E393D0D65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>
            <a:extLst>
              <a:ext uri="{FF2B5EF4-FFF2-40B4-BE49-F238E27FC236}">
                <a16:creationId xmlns="" xmlns:a16="http://schemas.microsoft.com/office/drawing/2014/main" id="{ABC7F36F-F235-29E4-CD20-8E8A7CFD6F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sp>
        <p:nvSpPr>
          <p:cNvPr id="137" name="Google Shape;137;p3">
            <a:extLst>
              <a:ext uri="{FF2B5EF4-FFF2-40B4-BE49-F238E27FC236}">
                <a16:creationId xmlns="" xmlns:a16="http://schemas.microsoft.com/office/drawing/2014/main" id="{5AAC270F-D4B4-4EF1-6A6D-0EEBDC321882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="" xmlns:a16="http://schemas.microsoft.com/office/drawing/2014/main" id="{829D2109-7143-3CAF-5212-1F2D5B87126C}"/>
              </a:ext>
            </a:extLst>
          </p:cNvPr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</a:rPr>
              <a:t>Company Profile</a:t>
            </a:r>
            <a:endParaRPr dirty="0"/>
          </a:p>
        </p:txBody>
      </p:sp>
      <p:pic>
        <p:nvPicPr>
          <p:cNvPr id="139" name="Google Shape;139;p3" descr="Logo, company name&#10;&#10;Description automatically generated">
            <a:extLst>
              <a:ext uri="{FF2B5EF4-FFF2-40B4-BE49-F238E27FC236}">
                <a16:creationId xmlns="" xmlns:a16="http://schemas.microsoft.com/office/drawing/2014/main" id="{4B3B5DCF-B930-81FB-C7B7-A4ED5A5483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>
            <a:extLst>
              <a:ext uri="{FF2B5EF4-FFF2-40B4-BE49-F238E27FC236}">
                <a16:creationId xmlns="" xmlns:a16="http://schemas.microsoft.com/office/drawing/2014/main" id="{9AF11345-D0FB-FA51-6AC6-1BD0B2F9E3D4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0FCA0A0-CFC3-85C0-487E-0F8A375ABAA1}"/>
              </a:ext>
            </a:extLst>
          </p:cNvPr>
          <p:cNvSpPr txBox="1"/>
          <p:nvPr/>
        </p:nvSpPr>
        <p:spPr>
          <a:xfrm>
            <a:off x="1488043" y="1170647"/>
            <a:ext cx="6850068" cy="101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36363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dk1"/>
                </a:solidFill>
              </a:rPr>
              <a:t>Company Name: </a:t>
            </a:r>
            <a:r>
              <a:rPr lang="en-US" sz="2200" dirty="0" err="1" smtClean="0">
                <a:solidFill>
                  <a:schemeClr val="dk1"/>
                </a:solidFill>
              </a:rPr>
              <a:t>Aziro</a:t>
            </a:r>
            <a:r>
              <a:rPr lang="en-US" sz="2200" dirty="0" smtClean="0">
                <a:solidFill>
                  <a:schemeClr val="dk1"/>
                </a:solidFill>
              </a:rPr>
              <a:t> </a:t>
            </a:r>
            <a:r>
              <a:rPr lang="en-US" sz="2200" dirty="0">
                <a:solidFill>
                  <a:schemeClr val="dk1"/>
                </a:solidFill>
              </a:rPr>
              <a:t>Technologies Pvt. Ltd.</a:t>
            </a:r>
            <a:endParaRPr lang="fr-FR" sz="2200" dirty="0"/>
          </a:p>
          <a:p>
            <a:pPr marL="342900" lvl="0" indent="-342900" algn="just">
              <a:lnSpc>
                <a:spcPct val="136363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chemeClr val="dk1"/>
                </a:solidFill>
              </a:rPr>
              <a:t>Location: </a:t>
            </a:r>
            <a:r>
              <a:rPr lang="en-US" sz="2200" dirty="0" smtClean="0">
                <a:solidFill>
                  <a:schemeClr val="dk1"/>
                </a:solidFill>
              </a:rPr>
              <a:t>Pune, Maharashtra </a:t>
            </a:r>
            <a:endParaRPr lang="en-US" sz="22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BAEF116-D07B-AD47-1FC5-68425EA21C5B}"/>
              </a:ext>
            </a:extLst>
          </p:cNvPr>
          <p:cNvSpPr txBox="1"/>
          <p:nvPr/>
        </p:nvSpPr>
        <p:spPr>
          <a:xfrm>
            <a:off x="558698" y="2238798"/>
            <a:ext cx="111828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Aziro</a:t>
            </a: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Technologies is a technology-driven software company focused on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AI &amp; Data Science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solutions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Enterprise software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development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Research-oriented problem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solving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Strong emphasis on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Modern AI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stacks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Scalable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architectures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Real-world problem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solving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Internship environment encouraged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Independent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exploration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Hands-on </a:t>
            </a:r>
            <a:r>
              <a:rPr lang="en-GB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learning</a:t>
            </a: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Research-based implementation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27" name="Picture 3" descr="AI-Native Product Engineering &amp; Enterprise Soluti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21" y="1030276"/>
            <a:ext cx="1208521" cy="120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65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  <p:sp>
        <p:nvSpPr>
          <p:cNvPr id="137" name="Google Shape;137;p3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RAG?</a:t>
            </a:r>
            <a:endParaRPr dirty="0"/>
          </a:p>
        </p:txBody>
      </p:sp>
      <p:pic>
        <p:nvPicPr>
          <p:cNvPr id="139" name="Google Shape;139;p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00B5936-3219-F335-92C2-C626747068E9}"/>
              </a:ext>
            </a:extLst>
          </p:cNvPr>
          <p:cNvSpPr txBox="1"/>
          <p:nvPr/>
        </p:nvSpPr>
        <p:spPr>
          <a:xfrm>
            <a:off x="347887" y="1151018"/>
            <a:ext cx="114962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Retrieval-Augmented Generation (RAG</a:t>
            </a:r>
            <a:r>
              <a:rPr lang="en-IN" sz="2000" b="1" dirty="0" smtClean="0"/>
              <a:t>) : </a:t>
            </a:r>
            <a:r>
              <a:rPr lang="en-GB" sz="2000" dirty="0"/>
              <a:t>Retrieval-Augmented Generation (RAG) is </a:t>
            </a:r>
            <a:r>
              <a:rPr lang="en-GB" sz="2000" dirty="0"/>
              <a:t>an AI framework that improves LLM accuracy by fetching relevant, up-to-date information from external, trusted knowledge </a:t>
            </a:r>
            <a:r>
              <a:rPr lang="en-GB" sz="2000" dirty="0" smtClean="0"/>
              <a:t>bases, such </a:t>
            </a:r>
            <a:r>
              <a:rPr lang="en-GB" sz="2000" dirty="0"/>
              <a:t>as internal company documents or </a:t>
            </a:r>
            <a:r>
              <a:rPr lang="en-GB" sz="2000" dirty="0" smtClean="0"/>
              <a:t>databases, before </a:t>
            </a:r>
            <a:r>
              <a:rPr lang="en-GB" sz="2000" dirty="0"/>
              <a:t>generating a response</a:t>
            </a:r>
            <a:r>
              <a:rPr lang="en-GB" sz="2000" dirty="0" smtClean="0"/>
              <a:t>.</a:t>
            </a:r>
          </a:p>
          <a:p>
            <a:endParaRPr lang="en-IN" sz="2000" b="1" dirty="0"/>
          </a:p>
          <a:p>
            <a:r>
              <a:rPr lang="en-IN" sz="2000" b="1" dirty="0" smtClean="0"/>
              <a:t>Traditional LLM: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Static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Cannot </a:t>
            </a:r>
            <a:r>
              <a:rPr lang="en-IN" sz="2000" dirty="0"/>
              <a:t>access enterprise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Risk of </a:t>
            </a:r>
            <a:r>
              <a:rPr lang="en-IN" sz="2000" dirty="0" smtClean="0"/>
              <a:t>hallucination</a:t>
            </a:r>
          </a:p>
          <a:p>
            <a:endParaRPr lang="en-IN" sz="2000" dirty="0"/>
          </a:p>
          <a:p>
            <a:r>
              <a:rPr lang="en-IN" sz="2000" b="1" dirty="0"/>
              <a:t>RAG: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Retrieves relevant document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Injects context into LLM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Generates grounded answers</a:t>
            </a:r>
          </a:p>
          <a:p>
            <a:r>
              <a:rPr lang="en-GB" sz="2000" dirty="0" smtClean="0"/>
              <a:t>- It is more accurate, reduces hallucination and, is more enterprise-ready.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sp>
        <p:nvSpPr>
          <p:cNvPr id="137" name="Google Shape;137;p3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 smtClean="0">
                <a:solidFill>
                  <a:schemeClr val="lt1"/>
                </a:solidFill>
              </a:rPr>
              <a:t>System Overview</a:t>
            </a:r>
            <a:endParaRPr dirty="0"/>
          </a:p>
        </p:txBody>
      </p:sp>
      <p:pic>
        <p:nvPicPr>
          <p:cNvPr id="139" name="Google Shape;139;p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0"/>
          <a:stretch/>
        </p:blipFill>
        <p:spPr>
          <a:xfrm>
            <a:off x="2265572" y="931208"/>
            <a:ext cx="7109338" cy="578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4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="" xmlns:a16="http://schemas.microsoft.com/office/drawing/2014/main" id="{2FB19AFD-0950-1FC9-FFEE-FC178650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="" xmlns:a16="http://schemas.microsoft.com/office/drawing/2014/main" id="{1E5CBA2C-B5E0-9BE2-D64D-877278D21D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>
            <a:extLst>
              <a:ext uri="{FF2B5EF4-FFF2-40B4-BE49-F238E27FC236}">
                <a16:creationId xmlns="" xmlns:a16="http://schemas.microsoft.com/office/drawing/2014/main" id="{58B711C3-A7C2-C837-8287-B0FC6FA6A7AC}"/>
              </a:ext>
            </a:extLst>
          </p:cNvPr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>
            <a:extLst>
              <a:ext uri="{FF2B5EF4-FFF2-40B4-BE49-F238E27FC236}">
                <a16:creationId xmlns="" xmlns:a16="http://schemas.microsoft.com/office/drawing/2014/main" id="{29ABF594-CC1E-AB98-9CE7-BA07D9A21A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="" xmlns:a16="http://schemas.microsoft.com/office/drawing/2014/main" id="{9FD2C338-CAC2-F6D6-3D49-5D8F3F525916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="" xmlns:a16="http://schemas.microsoft.com/office/drawing/2014/main" id="{26FE2CE6-1759-3270-0C59-0D0ABEDEE03D}"/>
              </a:ext>
            </a:extLst>
          </p:cNvPr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3200" b="1" cap="small" dirty="0" smtClean="0">
                <a:solidFill>
                  <a:schemeClr val="bg1"/>
                </a:solidFill>
              </a:rPr>
              <a:t>Vision-based PDF Extraction </a:t>
            </a:r>
            <a:endParaRPr lang="en-US" sz="3200" b="1" cap="small" dirty="0">
              <a:solidFill>
                <a:schemeClr val="bg1"/>
              </a:solidFill>
            </a:endParaRPr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="" xmlns:a16="http://schemas.microsoft.com/office/drawing/2014/main" id="{0C67382B-66EA-E182-4525-C73CED6631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="" xmlns:a16="http://schemas.microsoft.com/office/drawing/2014/main" id="{367D8AC6-FF3A-F2DC-3A5A-9CAEEAF35F88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67B25C7-5E2B-33EA-1AF5-27AEB2F5E5F6}"/>
              </a:ext>
            </a:extLst>
          </p:cNvPr>
          <p:cNvSpPr txBox="1"/>
          <p:nvPr/>
        </p:nvSpPr>
        <p:spPr>
          <a:xfrm>
            <a:off x="851988" y="1258185"/>
            <a:ext cx="102056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Vision-Based </a:t>
            </a:r>
            <a:r>
              <a:rPr lang="en-GB" sz="2400" b="1" dirty="0" smtClean="0"/>
              <a:t>Ingestion:</a:t>
            </a:r>
            <a:endParaRPr lang="en-GB" sz="2400" b="1" dirty="0"/>
          </a:p>
          <a:p>
            <a:r>
              <a:rPr lang="en-GB" sz="2400" dirty="0"/>
              <a:t>Instead of basic PDF parsing: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Each page converted to image (</a:t>
            </a:r>
            <a:r>
              <a:rPr lang="en-GB" sz="2400" dirty="0" err="1"/>
              <a:t>PyMuPDF</a:t>
            </a:r>
            <a:r>
              <a:rPr lang="en-GB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Sent to </a:t>
            </a:r>
            <a:r>
              <a:rPr lang="en-GB" sz="2400" dirty="0" err="1"/>
              <a:t>Groq</a:t>
            </a:r>
            <a:r>
              <a:rPr lang="en-GB" sz="2400" dirty="0"/>
              <a:t> Vision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Reconstructed as structured </a:t>
            </a:r>
            <a:r>
              <a:rPr lang="en-GB" sz="2400" dirty="0" smtClean="0"/>
              <a:t>Markdown</a:t>
            </a:r>
          </a:p>
          <a:p>
            <a:endParaRPr lang="en-GB" sz="2400" dirty="0"/>
          </a:p>
          <a:p>
            <a:r>
              <a:rPr lang="en-GB" sz="2400" b="1" dirty="0" smtClean="0"/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Handles </a:t>
            </a:r>
            <a:r>
              <a:rPr lang="en-GB" sz="2400" dirty="0"/>
              <a:t>complex </a:t>
            </a:r>
            <a:r>
              <a:rPr lang="en-GB" sz="2400" dirty="0" smtClean="0"/>
              <a:t>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Extracts </a:t>
            </a:r>
            <a:r>
              <a:rPr lang="en-GB" sz="2400" dirty="0"/>
              <a:t>text from </a:t>
            </a:r>
            <a:r>
              <a:rPr lang="en-GB" sz="2400" dirty="0" smtClean="0"/>
              <a:t>screenshots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Preserves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Works </a:t>
            </a:r>
            <a:r>
              <a:rPr lang="en-GB" sz="2400" dirty="0"/>
              <a:t>for scanned </a:t>
            </a:r>
            <a:r>
              <a:rPr lang="en-GB" sz="2400" dirty="0" smtClean="0"/>
              <a:t>PDFs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4325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="" xmlns:a16="http://schemas.microsoft.com/office/drawing/2014/main" id="{97494CC1-1133-7B9F-0AA9-3AAA2402D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="" xmlns:a16="http://schemas.microsoft.com/office/drawing/2014/main" id="{7B0A1011-C24A-5E57-FE65-202850F938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>
            <a:extLst>
              <a:ext uri="{FF2B5EF4-FFF2-40B4-BE49-F238E27FC236}">
                <a16:creationId xmlns="" xmlns:a16="http://schemas.microsoft.com/office/drawing/2014/main" id="{BB61CF3A-F0B0-C003-C820-A389F50BC3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="" xmlns:a16="http://schemas.microsoft.com/office/drawing/2014/main" id="{335A97FF-BADB-2B7B-9C45-81DF72075242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="" xmlns:a16="http://schemas.microsoft.com/office/drawing/2014/main" id="{CFAEA9A4-6BE1-FF5C-3607-862EF7AD2A5B}"/>
              </a:ext>
            </a:extLst>
          </p:cNvPr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3200" b="1" cap="small" dirty="0" smtClean="0">
                <a:solidFill>
                  <a:schemeClr val="bg1"/>
                </a:solidFill>
              </a:rPr>
              <a:t>Core RAG Pipeline Architecture</a:t>
            </a:r>
            <a:endParaRPr lang="en-US" sz="3200" b="1" cap="small" dirty="0">
              <a:solidFill>
                <a:schemeClr val="bg1"/>
              </a:solidFill>
            </a:endParaRPr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="" xmlns:a16="http://schemas.microsoft.com/office/drawing/2014/main" id="{2A474FFE-7B97-6E4D-CB0B-E3D92277F5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="" xmlns:a16="http://schemas.microsoft.com/office/drawing/2014/main" id="{FA16BCAF-1AF1-F425-6A61-275E57F61AF1}"/>
              </a:ext>
            </a:extLst>
          </p:cNvPr>
          <p:cNvSpPr/>
          <p:nvPr/>
        </p:nvSpPr>
        <p:spPr>
          <a:xfrm>
            <a:off x="-163352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2"/>
          <a:stretch/>
        </p:blipFill>
        <p:spPr>
          <a:xfrm>
            <a:off x="668176" y="1169931"/>
            <a:ext cx="10153880" cy="510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9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="" xmlns:a16="http://schemas.microsoft.com/office/drawing/2014/main" id="{E1D5C154-D284-DFBC-6E2F-445FBE6C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="" xmlns:a16="http://schemas.microsoft.com/office/drawing/2014/main" id="{18BCEE75-A5F1-F6FA-4C5E-C8EABFD333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>
            <a:extLst>
              <a:ext uri="{FF2B5EF4-FFF2-40B4-BE49-F238E27FC236}">
                <a16:creationId xmlns="" xmlns:a16="http://schemas.microsoft.com/office/drawing/2014/main" id="{15E75D26-312B-5B63-8EEE-310DCA2E4782}"/>
              </a:ext>
            </a:extLst>
          </p:cNvPr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>
            <a:extLst>
              <a:ext uri="{FF2B5EF4-FFF2-40B4-BE49-F238E27FC236}">
                <a16:creationId xmlns="" xmlns:a16="http://schemas.microsoft.com/office/drawing/2014/main" id="{4FDD0F9A-50A8-3D0E-F706-6D690273A8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="" xmlns:a16="http://schemas.microsoft.com/office/drawing/2014/main" id="{1DB0D28B-4BD4-6291-94FA-43A6806E6942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="" xmlns:a16="http://schemas.microsoft.com/office/drawing/2014/main" id="{569EF975-065C-BCCD-C1D6-C9991F491714}"/>
              </a:ext>
            </a:extLst>
          </p:cNvPr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3000" b="1" cap="small" dirty="0" smtClean="0">
                <a:solidFill>
                  <a:schemeClr val="bg1"/>
                </a:solidFill>
              </a:rPr>
              <a:t>Work Plan/ Timeline </a:t>
            </a:r>
            <a:endParaRPr lang="en-US" sz="3200" b="1" cap="small" dirty="0">
              <a:solidFill>
                <a:schemeClr val="bg1"/>
              </a:solidFill>
            </a:endParaRPr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="" xmlns:a16="http://schemas.microsoft.com/office/drawing/2014/main" id="{D5BC6707-C708-4FDB-EEFB-1C20364CF4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="" xmlns:a16="http://schemas.microsoft.com/office/drawing/2014/main" id="{831DEF95-1C9A-B534-1F4C-DFBA4A7AF896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334510"/>
              </p:ext>
            </p:extLst>
          </p:nvPr>
        </p:nvGraphicFramePr>
        <p:xfrm>
          <a:off x="1764144" y="1314506"/>
          <a:ext cx="8589820" cy="2555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4910"/>
                <a:gridCol w="4294910"/>
              </a:tblGrid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Phase 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/>
                        <a:t>Activities</a:t>
                      </a:r>
                      <a:r>
                        <a:rPr lang="en-IN" sz="1800" b="1" baseline="0" dirty="0" smtClean="0"/>
                        <a:t> </a:t>
                      </a:r>
                      <a:endParaRPr lang="en-IN" sz="1800" b="1" dirty="0"/>
                    </a:p>
                  </a:txBody>
                  <a:tcPr/>
                </a:tc>
              </a:tr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Week 1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Onboarding</a:t>
                      </a:r>
                      <a:r>
                        <a:rPr lang="en-IN" sz="1800" dirty="0" smtClean="0"/>
                        <a:t>, policies, security</a:t>
                      </a:r>
                      <a:endParaRPr lang="en-IN" sz="1800" dirty="0"/>
                    </a:p>
                  </a:txBody>
                  <a:tcPr/>
                </a:tc>
              </a:tr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Week 2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RAG &amp; </a:t>
                      </a:r>
                      <a:r>
                        <a:rPr lang="en-IN" sz="1800" dirty="0" err="1" smtClean="0"/>
                        <a:t>LangChain</a:t>
                      </a:r>
                      <a:r>
                        <a:rPr lang="en-IN" sz="1800" dirty="0" smtClean="0"/>
                        <a:t> fundamentals</a:t>
                      </a:r>
                      <a:endParaRPr lang="en-IN" sz="1800" dirty="0"/>
                    </a:p>
                  </a:txBody>
                  <a:tcPr/>
                </a:tc>
              </a:tr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Week 3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PDF loaders &amp; extraction </a:t>
                      </a:r>
                      <a:endParaRPr lang="en-IN" sz="1800" dirty="0"/>
                    </a:p>
                  </a:txBody>
                  <a:tcPr/>
                </a:tc>
              </a:tr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Week 4</a:t>
                      </a:r>
                      <a:r>
                        <a:rPr lang="en-IN" sz="1800" baseline="0" dirty="0" smtClean="0"/>
                        <a:t>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Chunking &amp; optimization </a:t>
                      </a:r>
                      <a:endParaRPr lang="en-IN" sz="1800" dirty="0"/>
                    </a:p>
                  </a:txBody>
                  <a:tcPr/>
                </a:tc>
              </a:tr>
              <a:tr h="42592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Future</a:t>
                      </a:r>
                      <a:r>
                        <a:rPr lang="en-IN" sz="1800" baseline="0" dirty="0" smtClean="0"/>
                        <a:t>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Embeddings</a:t>
                      </a:r>
                      <a:r>
                        <a:rPr lang="en-IN" sz="1800" dirty="0" smtClean="0"/>
                        <a:t> &amp; vector DB </a:t>
                      </a:r>
                      <a:endParaRPr lang="en-IN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646217" y="4005952"/>
            <a:ext cx="86267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 smtClean="0"/>
              <a:t>Future Plan: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/>
              <a:t>Implement </a:t>
            </a:r>
            <a:r>
              <a:rPr lang="en-IN" sz="1800" dirty="0"/>
              <a:t>embedding </a:t>
            </a:r>
            <a:r>
              <a:rPr lang="en-IN" sz="1800" dirty="0" smtClean="0"/>
              <a:t>generation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Integrate vector databases (FAISS / Milvus</a:t>
            </a:r>
            <a:r>
              <a:rPr lang="en-IN" sz="1800" dirty="0" smtClean="0"/>
              <a:t>)</a:t>
            </a:r>
            <a:endParaRPr lang="en-IN" sz="1800" dirty="0"/>
          </a:p>
          <a:p>
            <a:r>
              <a:rPr lang="en-IN" sz="1800" dirty="0"/>
              <a:t>Experiment with</a:t>
            </a:r>
            <a:r>
              <a:rPr lang="en-IN" sz="1800" dirty="0" smtClean="0"/>
              <a:t>: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Hybrid </a:t>
            </a:r>
            <a:r>
              <a:rPr lang="en-IN" sz="1800" dirty="0" smtClean="0"/>
              <a:t>search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Multimodal </a:t>
            </a:r>
            <a:r>
              <a:rPr lang="en-IN" sz="1800" dirty="0" smtClean="0"/>
              <a:t>retrieval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Build </a:t>
            </a:r>
            <a:r>
              <a:rPr lang="en-IN" sz="1800" dirty="0" err="1"/>
              <a:t>chatbot</a:t>
            </a:r>
            <a:r>
              <a:rPr lang="en-IN" sz="1800" dirty="0"/>
              <a:t> </a:t>
            </a:r>
            <a:r>
              <a:rPr lang="en-IN" sz="1800" dirty="0" smtClean="0"/>
              <a:t>interface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Performance tuning for large enterprise datasets</a:t>
            </a:r>
          </a:p>
        </p:txBody>
      </p:sp>
    </p:spTree>
    <p:extLst>
      <p:ext uri="{BB962C8B-B14F-4D97-AF65-F5344CB8AC3E}">
        <p14:creationId xmlns:p14="http://schemas.microsoft.com/office/powerpoint/2010/main" val="297202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="" xmlns:a16="http://schemas.microsoft.com/office/drawing/2014/main" id="{11083775-9F14-5CD8-85E9-59FD1654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="" xmlns:a16="http://schemas.microsoft.com/office/drawing/2014/main" id="{A2C4609B-95AB-2FE4-837E-0415F61CD4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>
            <a:extLst>
              <a:ext uri="{FF2B5EF4-FFF2-40B4-BE49-F238E27FC236}">
                <a16:creationId xmlns="" xmlns:a16="http://schemas.microsoft.com/office/drawing/2014/main" id="{D243D1EF-2809-8C8D-63E2-376EBCA3EAB0}"/>
              </a:ext>
            </a:extLst>
          </p:cNvPr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>
            <a:extLst>
              <a:ext uri="{FF2B5EF4-FFF2-40B4-BE49-F238E27FC236}">
                <a16:creationId xmlns="" xmlns:a16="http://schemas.microsoft.com/office/drawing/2014/main" id="{07198B08-1963-EDC5-9240-3DF051072E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9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="" xmlns:a16="http://schemas.microsoft.com/office/drawing/2014/main" id="{0F54815B-C381-E4BA-80B6-D4C3DF1F251D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="" xmlns:a16="http://schemas.microsoft.com/office/drawing/2014/main" id="{903AE02A-092E-554D-27DB-1669BA3B0048}"/>
              </a:ext>
            </a:extLst>
          </p:cNvPr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000" b="1" cap="small" dirty="0">
              <a:solidFill>
                <a:schemeClr val="bg1"/>
              </a:solidFill>
            </a:endParaRPr>
          </a:p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3200" b="1" cap="small" dirty="0">
                <a:solidFill>
                  <a:schemeClr val="bg1"/>
                </a:solidFill>
              </a:rPr>
              <a:t>Conclusion</a:t>
            </a:r>
          </a:p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000" b="1" dirty="0">
              <a:solidFill>
                <a:schemeClr val="bg1"/>
              </a:solidFill>
            </a:endParaRPr>
          </a:p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200" b="1" cap="small" dirty="0">
              <a:solidFill>
                <a:schemeClr val="bg1"/>
              </a:solidFill>
            </a:endParaRPr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="" xmlns:a16="http://schemas.microsoft.com/office/drawing/2014/main" id="{64982821-A354-9688-3531-BB7F7D2F7D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="" xmlns:a16="http://schemas.microsoft.com/office/drawing/2014/main" id="{143113D3-EC1E-56FB-6148-8804A2A60C3B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500F9B5-DA19-C2C2-780B-341EA2212C62}"/>
              </a:ext>
            </a:extLst>
          </p:cNvPr>
          <p:cNvSpPr txBox="1"/>
          <p:nvPr/>
        </p:nvSpPr>
        <p:spPr>
          <a:xfrm>
            <a:off x="574091" y="1279957"/>
            <a:ext cx="105860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Internship </a:t>
            </a:r>
            <a:r>
              <a:rPr lang="en-GB" sz="2400" b="1" dirty="0"/>
              <a:t>provided strong exposure to</a:t>
            </a:r>
            <a:r>
              <a:rPr lang="en-GB" sz="2400" b="1" dirty="0" smtClean="0"/>
              <a:t>:</a:t>
            </a:r>
            <a:endParaRPr lang="en-GB" sz="2400" b="1" dirty="0"/>
          </a:p>
          <a:p>
            <a:r>
              <a:rPr lang="en-GB" sz="2400" dirty="0"/>
              <a:t>Real-world RAG </a:t>
            </a:r>
            <a:r>
              <a:rPr lang="en-GB" sz="2400" dirty="0" smtClean="0"/>
              <a:t>systems</a:t>
            </a:r>
            <a:endParaRPr lang="en-GB" sz="2400" dirty="0"/>
          </a:p>
          <a:p>
            <a:r>
              <a:rPr lang="en-GB" sz="2400" dirty="0"/>
              <a:t>Multimodal document </a:t>
            </a:r>
            <a:r>
              <a:rPr lang="en-GB" sz="2400" dirty="0" smtClean="0"/>
              <a:t>processing</a:t>
            </a:r>
            <a:endParaRPr lang="en-GB" sz="2400" dirty="0"/>
          </a:p>
          <a:p>
            <a:r>
              <a:rPr lang="en-GB" sz="2400" dirty="0"/>
              <a:t>AI system </a:t>
            </a:r>
            <a:r>
              <a:rPr lang="en-GB" sz="2400" dirty="0" smtClean="0"/>
              <a:t>design</a:t>
            </a:r>
            <a:endParaRPr lang="en-GB" sz="2400" dirty="0"/>
          </a:p>
          <a:p>
            <a:r>
              <a:rPr lang="en-GB" sz="2400" b="1" dirty="0"/>
              <a:t>Learned</a:t>
            </a:r>
            <a:r>
              <a:rPr lang="en-GB" sz="2400" b="1" dirty="0" smtClean="0"/>
              <a:t>:</a:t>
            </a:r>
            <a:endParaRPr lang="en-GB" sz="2400" b="1" dirty="0"/>
          </a:p>
          <a:p>
            <a:r>
              <a:rPr lang="en-GB" sz="2400" dirty="0"/>
              <a:t>End-to-end pipeline </a:t>
            </a:r>
            <a:r>
              <a:rPr lang="en-GB" sz="2400" dirty="0" smtClean="0"/>
              <a:t>thinking</a:t>
            </a:r>
            <a:endParaRPr lang="en-GB" sz="2400" dirty="0"/>
          </a:p>
          <a:p>
            <a:r>
              <a:rPr lang="en-GB" sz="2400" dirty="0"/>
              <a:t>Optimization </a:t>
            </a:r>
            <a:r>
              <a:rPr lang="en-GB" sz="2400" dirty="0" smtClean="0"/>
              <a:t>trade-offs</a:t>
            </a:r>
            <a:endParaRPr lang="en-GB" sz="2400" dirty="0"/>
          </a:p>
          <a:p>
            <a:r>
              <a:rPr lang="en-GB" sz="2400" dirty="0"/>
              <a:t>Project aligns well with enterprise AI needs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701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="" xmlns:a16="http://schemas.microsoft.com/office/drawing/2014/main" id="{674C5B52-9A4E-BFDB-E4F0-034F5AAF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="" xmlns:a16="http://schemas.microsoft.com/office/drawing/2014/main" id="{4E0634CF-C056-DBEE-3056-33562EDB13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>
            <a:extLst>
              <a:ext uri="{FF2B5EF4-FFF2-40B4-BE49-F238E27FC236}">
                <a16:creationId xmlns="" xmlns:a16="http://schemas.microsoft.com/office/drawing/2014/main" id="{717B03D8-8F13-DB2C-A368-BD2F5F4A0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10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="" xmlns:a16="http://schemas.microsoft.com/office/drawing/2014/main" id="{A7623FAC-C19F-8F2D-1B2C-8028F35AF97F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="" xmlns:a16="http://schemas.microsoft.com/office/drawing/2014/main" id="{6D63B631-D363-2D64-6AC3-F515F6759FC8}"/>
              </a:ext>
            </a:extLst>
          </p:cNvPr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000" b="1" cap="small" dirty="0">
              <a:solidFill>
                <a:schemeClr val="bg1"/>
              </a:solidFill>
            </a:endParaRPr>
          </a:p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r>
              <a:rPr lang="en-US" sz="3200" b="1" cap="small" dirty="0">
                <a:solidFill>
                  <a:schemeClr val="bg1"/>
                </a:solidFill>
              </a:rPr>
              <a:t>References</a:t>
            </a:r>
          </a:p>
          <a:p>
            <a:pPr lvl="0"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000" b="1" dirty="0">
              <a:solidFill>
                <a:schemeClr val="bg1"/>
              </a:solidFill>
            </a:endParaRPr>
          </a:p>
          <a:p>
            <a:pPr algn="ctr">
              <a:lnSpc>
                <a:spcPct val="85000"/>
              </a:lnSpc>
              <a:buClr>
                <a:schemeClr val="lt1"/>
              </a:buClr>
              <a:buSzPts val="4000"/>
            </a:pPr>
            <a:endParaRPr lang="en-US" sz="3200" b="1" cap="small" dirty="0">
              <a:solidFill>
                <a:schemeClr val="bg1"/>
              </a:solidFill>
            </a:endParaRPr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="" xmlns:a16="http://schemas.microsoft.com/office/drawing/2014/main" id="{63182218-6C4E-5140-F39F-B4EF5C217C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="" xmlns:a16="http://schemas.microsoft.com/office/drawing/2014/main" id="{056E69C2-F42C-B89B-B0F9-41E39B012D4E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51988" y="1637250"/>
            <a:ext cx="86175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Aziro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Technologies –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Official Website - https://www.aziro.com/en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Documentation - https://docs.langchain.com/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Docling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Documentation -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https://docling-project.github.io/docling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/</a:t>
            </a: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610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11</a:t>
            </a:fld>
            <a:endParaRPr sz="1600"/>
          </a:p>
        </p:txBody>
      </p:sp>
      <p:pic>
        <p:nvPicPr>
          <p:cNvPr id="176" name="Google Shape;176;p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 smtClean="0">
                <a:solidFill>
                  <a:schemeClr val="lt1"/>
                </a:solidFill>
              </a:rPr>
              <a:t>12202130501036</a:t>
            </a:r>
            <a:endParaRPr dirty="0"/>
          </a:p>
        </p:txBody>
      </p:sp>
      <p:sp>
        <p:nvSpPr>
          <p:cNvPr id="179" name="Google Shape;179;p6"/>
          <p:cNvSpPr txBox="1"/>
          <p:nvPr/>
        </p:nvSpPr>
        <p:spPr>
          <a:xfrm>
            <a:off x="0" y="2492829"/>
            <a:ext cx="12156702" cy="13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24108"/>
              </a:buClr>
              <a:buSzPts val="8800"/>
              <a:buFont typeface="Arial"/>
              <a:buNone/>
            </a:pPr>
            <a:r>
              <a:rPr lang="en-US" sz="8800" b="1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Thank You…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360</Words>
  <Application>Microsoft Office PowerPoint</Application>
  <PresentationFormat>Widescreen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Microsoft account</cp:lastModifiedBy>
  <cp:revision>67</cp:revision>
  <dcterms:created xsi:type="dcterms:W3CDTF">2016-07-08T05:35:06Z</dcterms:created>
  <dcterms:modified xsi:type="dcterms:W3CDTF">2026-02-26T20:22:12Z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0x010100168121E6927E594AB9D4C67568B7DA81</vt:lpwstr>
  </property>
</Properties>
</file>