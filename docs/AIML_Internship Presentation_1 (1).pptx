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hRQeDJsSt2Qn6xDlSYVcWT0G93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467de8e5c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c467de8e5c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/>
          <p:nvPr/>
        </p:nvSpPr>
        <p:spPr>
          <a:xfrm>
            <a:off x="3175" y="6492874"/>
            <a:ext cx="12188825" cy="36512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/>
          <p:nvPr/>
        </p:nvSpPr>
        <p:spPr>
          <a:xfrm>
            <a:off x="-1905" y="6424595"/>
            <a:ext cx="12207240" cy="91440"/>
          </a:xfrm>
          <a:prstGeom prst="rect">
            <a:avLst/>
          </a:prstGeom>
          <a:solidFill>
            <a:srgbClr val="FCBD0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2" type="sldNum"/>
          </p:nvPr>
        </p:nvSpPr>
        <p:spPr>
          <a:xfrm>
            <a:off x="10844677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1" i="0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8" name="Google Shape;38;p10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12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/>
          <p:nvPr>
            <p:ph idx="2" type="pic"/>
          </p:nvPr>
        </p:nvSpPr>
        <p:spPr>
          <a:xfrm>
            <a:off x="15" y="0"/>
            <a:ext cx="12191985" cy="491507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7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7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.png"/><Relationship Id="rId5" Type="http://schemas.openxmlformats.org/officeDocument/2006/relationships/hyperlink" Target="https://docling-project.github.io/doclin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/>
          <p:nvPr/>
        </p:nvSpPr>
        <p:spPr>
          <a:xfrm>
            <a:off x="-34661" y="1765837"/>
            <a:ext cx="12239773" cy="957558"/>
          </a:xfrm>
          <a:prstGeom prst="rect">
            <a:avLst/>
          </a:prstGeom>
          <a:solidFill>
            <a:srgbClr val="FCBD0D"/>
          </a:solidFill>
          <a:ln cap="flat" cmpd="sng" w="15875">
            <a:solidFill>
              <a:srgbClr val="A65F0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90247" y="239784"/>
            <a:ext cx="120210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/>
          <p:nvPr/>
        </p:nvSpPr>
        <p:spPr>
          <a:xfrm>
            <a:off x="-86379" y="293314"/>
            <a:ext cx="12190099" cy="2038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H PATEL COLLEGE OF ENGINEERING &amp; TECHNOLOGY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(THE CHARUTAR VIDYA MANDAL (CVM) UNIVERSITY)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small" strike="noStrike">
                <a:solidFill>
                  <a:srgbClr val="7242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</a:t>
            </a:r>
            <a:br>
              <a:rPr b="1" i="0" lang="en-US" sz="2100" u="none" cap="small" strike="noStrike">
                <a:solidFill>
                  <a:srgbClr val="724209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100" u="none" cap="small" strike="noStrike">
              <a:solidFill>
                <a:srgbClr val="72420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small" strike="noStrike">
              <a:solidFill>
                <a:srgbClr val="72420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"/>
          <p:cNvSpPr/>
          <p:nvPr/>
        </p:nvSpPr>
        <p:spPr>
          <a:xfrm>
            <a:off x="610222" y="4595729"/>
            <a:ext cx="2387594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sng" cap="small" strike="noStrike">
                <a:solidFill>
                  <a:srgbClr val="724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-60610" y="2049058"/>
            <a:ext cx="12138560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Multi-Modal RAG Agent for Enterprise Guidelines 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9019523" y="4595276"/>
            <a:ext cx="2629280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sng" cap="small" strike="noStrike">
                <a:solidFill>
                  <a:srgbClr val="724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Guide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"/>
          <p:cNvSpPr txBox="1"/>
          <p:nvPr>
            <p:ph idx="12" type="sldNum"/>
          </p:nvPr>
        </p:nvSpPr>
        <p:spPr>
          <a:xfrm>
            <a:off x="10844677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3114" y="4096643"/>
            <a:ext cx="1219199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r>
              <a:rPr b="1" baseline="30000" i="0" lang="en-US" sz="22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i="0" lang="en-US" sz="22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February, 2026</a:t>
            </a:r>
            <a:endParaRPr b="1" i="0" sz="2200" u="none" cap="small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40325" y="2824114"/>
            <a:ext cx="12164700" cy="11541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Internship (202000801)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small" strike="noStrike">
                <a:solidFill>
                  <a:srgbClr val="724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 Presentation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4378483" y="4595729"/>
            <a:ext cx="326037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sng" cap="small" strike="noStrike">
                <a:solidFill>
                  <a:srgbClr val="724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Guide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4037649" y="4995386"/>
            <a:ext cx="4170052" cy="15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Kajal Mishra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eng – data scientist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Aziro Technologies Pvt. Ltd.  </a:t>
            </a:r>
            <a:endParaRPr b="1" i="0" sz="1600" u="none" cap="small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Pune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11688616" y="6564686"/>
            <a:ext cx="468086" cy="273792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8029357" y="5059989"/>
            <a:ext cx="4609612" cy="1099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kinjal joshi</a:t>
            </a:r>
            <a:endParaRPr b="1" i="0" sz="2200" u="none" cap="small" strike="noStrik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 Department, GCET, 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Vallabh Vidyanagar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15" name="Google Shape;115;p1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2097" y="239784"/>
            <a:ext cx="1384038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/>
          <p:nvPr/>
        </p:nvSpPr>
        <p:spPr>
          <a:xfrm>
            <a:off x="-281007" y="5059989"/>
            <a:ext cx="4170052" cy="1199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90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Krupa Dhaval Jantrania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CSD, GCET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23" name="Google Shape;123;p19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Profile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25" name="Google Shape;125;p19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9"/>
          <p:cNvSpPr txBox="1"/>
          <p:nvPr/>
        </p:nvSpPr>
        <p:spPr>
          <a:xfrm>
            <a:off x="1488043" y="1170647"/>
            <a:ext cx="68502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Name: </a:t>
            </a: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Aziro Technologies Pvt. Ltd.</a:t>
            </a:r>
            <a:endParaRPr i="0" sz="2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just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❑"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Location: </a:t>
            </a:r>
            <a:r>
              <a:rPr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Pune, Maharashtra </a:t>
            </a:r>
            <a:endParaRPr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558698" y="2238798"/>
            <a:ext cx="111828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Aziro Technologies is a technology-driven software company focused on: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Data Science solutions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Enterprise software development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2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Research-oriented problem solving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Strong emphasis on: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AI stacks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architectures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problem solving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environment encouraged: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exploration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Hands-on learning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Research-based implementation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AI-Native Product Engineering &amp; Enterprise Solutions" id="129" name="Google Shape;12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521" y="1030276"/>
            <a:ext cx="1208521" cy="12085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"/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37" name="Google Shape;137;p3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RAG?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39" name="Google Shape;139;p3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347887" y="1151018"/>
            <a:ext cx="11496300" cy="44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 (RAG) : </a:t>
            </a: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Retrieval-Augmented Generation (RAG) is an AI framework that improves LLM accuracy by fetching relevant, up-to-date information from external, trusted knowledge bases, such as internal company documents or databases, before generating a response.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Traditional LLM: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knowledge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Cannot access enterprise documents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of hallucination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RAG: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Retrieves relevant document chunks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Injects context into LLM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grounded answers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It is more accurate, reduces hallucination and, is more enterprise-ready.</a:t>
            </a:r>
            <a:endParaRPr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0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48" name="Google Shape;148;p20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1202872" y="152400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i="0" lang="en-US" sz="40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50" name="Google Shape;150;p20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2" name="Google Shape;152;p20"/>
          <p:cNvPicPr preferRelativeResize="0"/>
          <p:nvPr/>
        </p:nvPicPr>
        <p:blipFill rotWithShape="1">
          <a:blip r:embed="rId5">
            <a:alphaModFix/>
          </a:blip>
          <a:srcRect b="0" l="0" r="0" t="10849"/>
          <a:stretch/>
        </p:blipFill>
        <p:spPr>
          <a:xfrm>
            <a:off x="2265572" y="931208"/>
            <a:ext cx="7109338" cy="5783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1"/>
          <p:cNvSpPr txBox="1"/>
          <p:nvPr/>
        </p:nvSpPr>
        <p:spPr>
          <a:xfrm>
            <a:off x="8463280" y="863594"/>
            <a:ext cx="3906344" cy="513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Calibri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1F394D"/>
              </a:buClr>
              <a:buSzPts val="2000"/>
              <a:buFont typeface="Noto Sans Symbols"/>
              <a:buNone/>
            </a:pPr>
            <a:r>
              <a:t/>
            </a:r>
            <a:endParaRPr b="1" i="0" sz="2000" u="none" cap="small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1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60" name="Google Shape;160;p21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Vision-based PDF Extraction </a:t>
            </a:r>
            <a:endParaRPr b="1" i="0" sz="32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62" name="Google Shape;162;p21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851988" y="1258185"/>
            <a:ext cx="102057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Vision-Based Ingestion: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basic PDF parsing: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page converted to image (PyMuPDF)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 to Groq Vision model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Reconstructed as structured Markdown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Handles complex tables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Extracts text from screenshots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layout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for scanned PDFs</a:t>
            </a:r>
            <a:endParaRPr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71" name="Google Shape;171;p22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RAG Pipeline Architecture</a:t>
            </a:r>
            <a:endParaRPr b="1" i="0" sz="32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73" name="Google Shape;173;p22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>
            <a:off x="-163352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22"/>
          <p:cNvPicPr preferRelativeResize="0"/>
          <p:nvPr/>
        </p:nvPicPr>
        <p:blipFill rotWithShape="1">
          <a:blip r:embed="rId5">
            <a:alphaModFix/>
          </a:blip>
          <a:srcRect b="0" l="0" r="0" t="16162"/>
          <a:stretch/>
        </p:blipFill>
        <p:spPr>
          <a:xfrm>
            <a:off x="668176" y="1169931"/>
            <a:ext cx="10153880" cy="5107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82" name="Google Shape;182;p23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912463" y="274371"/>
            <a:ext cx="9786300" cy="7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cap="small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Screenshots </a:t>
            </a:r>
            <a:endParaRPr b="1" i="0" sz="32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84" name="Google Shape;184;p23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3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 rotWithShape="1">
          <a:blip r:embed="rId5">
            <a:alphaModFix/>
          </a:blip>
          <a:srcRect b="20498" l="1901" r="45851" t="14939"/>
          <a:stretch/>
        </p:blipFill>
        <p:spPr>
          <a:xfrm>
            <a:off x="453550" y="1149050"/>
            <a:ext cx="5553384" cy="385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 rotWithShape="1">
          <a:blip r:embed="rId6">
            <a:alphaModFix/>
          </a:blip>
          <a:srcRect b="3166" l="6153" r="6196" t="5850"/>
          <a:stretch/>
        </p:blipFill>
        <p:spPr>
          <a:xfrm>
            <a:off x="6350000" y="1149050"/>
            <a:ext cx="4513658" cy="385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194" name="Google Shape;194;p24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888200" y="15725"/>
            <a:ext cx="995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b="1" i="0" lang="en-US" sz="32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onclusion</a:t>
            </a:r>
            <a:endParaRPr b="1" i="0" sz="32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196" name="Google Shape;196;p24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 rotWithShape="1">
          <a:blip r:embed="rId5">
            <a:alphaModFix/>
          </a:blip>
          <a:srcRect b="17172" l="1281" r="1611" t="22148"/>
          <a:stretch/>
        </p:blipFill>
        <p:spPr>
          <a:xfrm>
            <a:off x="925475" y="1448412"/>
            <a:ext cx="10341100" cy="396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g3c467de8e5c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c467de8e5c_0_17"/>
          <p:cNvSpPr txBox="1"/>
          <p:nvPr>
            <p:ph idx="12" type="sldNum"/>
          </p:nvPr>
        </p:nvSpPr>
        <p:spPr>
          <a:xfrm>
            <a:off x="11669486" y="6503329"/>
            <a:ext cx="4872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205" name="Google Shape;205;g3c467de8e5c_0_17"/>
          <p:cNvSpPr/>
          <p:nvPr/>
        </p:nvSpPr>
        <p:spPr>
          <a:xfrm>
            <a:off x="1202872" y="-6922"/>
            <a:ext cx="9786300" cy="959700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c467de8e5c_0_17"/>
          <p:cNvSpPr txBox="1"/>
          <p:nvPr/>
        </p:nvSpPr>
        <p:spPr>
          <a:xfrm>
            <a:off x="888200" y="15725"/>
            <a:ext cx="99579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 cap="small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 i="0" sz="32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207" name="Google Shape;207;g3c467de8e5c_0_17"/>
          <p:cNvPicPr preferRelativeResize="0"/>
          <p:nvPr/>
        </p:nvPicPr>
        <p:blipFill rotWithShape="1">
          <a:blip r:embed="rId4">
            <a:alphaModFix/>
          </a:blip>
          <a:srcRect b="27451" l="22684" r="24745" t="23900"/>
          <a:stretch/>
        </p:blipFill>
        <p:spPr>
          <a:xfrm>
            <a:off x="64399" y="49399"/>
            <a:ext cx="988599" cy="914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3c467de8e5c_0_17"/>
          <p:cNvSpPr/>
          <p:nvPr/>
        </p:nvSpPr>
        <p:spPr>
          <a:xfrm>
            <a:off x="-172779" y="6483773"/>
            <a:ext cx="302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g3c467de8e5c_0_17"/>
          <p:cNvPicPr preferRelativeResize="0"/>
          <p:nvPr/>
        </p:nvPicPr>
        <p:blipFill rotWithShape="1">
          <a:blip r:embed="rId5">
            <a:alphaModFix/>
          </a:blip>
          <a:srcRect b="5440" l="4299" r="1200" t="11379"/>
          <a:stretch/>
        </p:blipFill>
        <p:spPr>
          <a:xfrm>
            <a:off x="1715776" y="1099400"/>
            <a:ext cx="8760456" cy="52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5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sp>
        <p:nvSpPr>
          <p:cNvPr id="216" name="Google Shape;216;p25"/>
          <p:cNvSpPr/>
          <p:nvPr/>
        </p:nvSpPr>
        <p:spPr>
          <a:xfrm>
            <a:off x="1202872" y="-6922"/>
            <a:ext cx="9786257" cy="959835"/>
          </a:xfrm>
          <a:prstGeom prst="rect">
            <a:avLst/>
          </a:prstGeom>
          <a:solidFill>
            <a:srgbClr val="2184C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851988" y="354671"/>
            <a:ext cx="9786256" cy="7003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 cap="small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Logo, company name&#10;&#10;Description automatically generated" id="218" name="Google Shape;218;p25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851988" y="1637250"/>
            <a:ext cx="861752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Aziro Technologies – 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Official Website - https://www.aziro.com/en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LangChain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 - https://docs.langchain.com/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Docling</a:t>
            </a:r>
            <a:r>
              <a:rPr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Documentation - </a:t>
            </a:r>
            <a:r>
              <a:rPr i="0" lang="en-US" sz="18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https://docling-project.github.io/docling/</a:t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60097" y="60285"/>
            <a:ext cx="858643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6"/>
          <p:cNvSpPr txBox="1"/>
          <p:nvPr>
            <p:ph idx="12" type="sldNum"/>
          </p:nvPr>
        </p:nvSpPr>
        <p:spPr>
          <a:xfrm>
            <a:off x="11669486" y="6503329"/>
            <a:ext cx="487216" cy="354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 sz="1600"/>
              <a:t>‹#›</a:t>
            </a:fld>
            <a:endParaRPr sz="1600"/>
          </a:p>
        </p:txBody>
      </p:sp>
      <p:pic>
        <p:nvPicPr>
          <p:cNvPr descr="Logo, company name&#10;&#10;Description automatically generated" id="227" name="Google Shape;227;p6"/>
          <p:cNvPicPr preferRelativeResize="0"/>
          <p:nvPr/>
        </p:nvPicPr>
        <p:blipFill rotWithShape="1">
          <a:blip r:embed="rId4">
            <a:alphaModFix/>
          </a:blip>
          <a:srcRect b="27452" l="22687" r="24741" t="23899"/>
          <a:stretch/>
        </p:blipFill>
        <p:spPr>
          <a:xfrm>
            <a:off x="64399" y="49399"/>
            <a:ext cx="988599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/>
          <p:nvPr/>
        </p:nvSpPr>
        <p:spPr>
          <a:xfrm>
            <a:off x="-172779" y="6483773"/>
            <a:ext cx="3024838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small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12202130501036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6"/>
          <p:cNvSpPr txBox="1"/>
          <p:nvPr/>
        </p:nvSpPr>
        <p:spPr>
          <a:xfrm>
            <a:off x="0" y="2492829"/>
            <a:ext cx="12156702" cy="13171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724108"/>
              </a:buClr>
              <a:buSzPts val="8800"/>
              <a:buFont typeface="Arial"/>
              <a:buNone/>
            </a:pPr>
            <a:r>
              <a:rPr b="1" i="0" lang="en-US" sz="8800" u="none" cap="small" strike="noStrike">
                <a:solidFill>
                  <a:srgbClr val="72410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You…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2016-07-08T05:35:06Z</dcterms:created>
  <dc:creator>Administrator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0x010100168121E6927E594AB9D4C67568B7DA81</vt:lpwstr>
  </property>
</Properties>
</file>